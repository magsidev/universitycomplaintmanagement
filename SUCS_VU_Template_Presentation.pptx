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5481"/>
        </a:solidFill>
        <a:effectLst/>
        <a:uFillTx/>
        <a:latin typeface="Tahoma"/>
        <a:ea typeface="Tahoma"/>
        <a:cs typeface="Tahoma"/>
        <a:sym typeface="Tahom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5481"/>
        </a:solidFill>
        <a:effectLst/>
        <a:uFillTx/>
        <a:latin typeface="Tahoma"/>
        <a:ea typeface="Tahoma"/>
        <a:cs typeface="Tahoma"/>
        <a:sym typeface="Tahom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5481"/>
        </a:solidFill>
        <a:effectLst/>
        <a:uFillTx/>
        <a:latin typeface="Tahoma"/>
        <a:ea typeface="Tahoma"/>
        <a:cs typeface="Tahoma"/>
        <a:sym typeface="Tahom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5481"/>
        </a:solidFill>
        <a:effectLst/>
        <a:uFillTx/>
        <a:latin typeface="Tahoma"/>
        <a:ea typeface="Tahoma"/>
        <a:cs typeface="Tahoma"/>
        <a:sym typeface="Tahom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5481"/>
        </a:solidFill>
        <a:effectLst/>
        <a:uFillTx/>
        <a:latin typeface="Tahoma"/>
        <a:ea typeface="Tahoma"/>
        <a:cs typeface="Tahoma"/>
        <a:sym typeface="Tahom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5481"/>
        </a:solidFill>
        <a:effectLst/>
        <a:uFillTx/>
        <a:latin typeface="Tahoma"/>
        <a:ea typeface="Tahoma"/>
        <a:cs typeface="Tahoma"/>
        <a:sym typeface="Tahom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5481"/>
        </a:solidFill>
        <a:effectLst/>
        <a:uFillTx/>
        <a:latin typeface="Tahoma"/>
        <a:ea typeface="Tahoma"/>
        <a:cs typeface="Tahoma"/>
        <a:sym typeface="Tahom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5481"/>
        </a:solidFill>
        <a:effectLst/>
        <a:uFillTx/>
        <a:latin typeface="Tahoma"/>
        <a:ea typeface="Tahoma"/>
        <a:cs typeface="Tahoma"/>
        <a:sym typeface="Tahom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2B5481"/>
        </a:solidFill>
        <a:effectLst/>
        <a:uFillTx/>
        <a:latin typeface="Tahoma"/>
        <a:ea typeface="Tahoma"/>
        <a:cs typeface="Tahoma"/>
        <a:sym typeface="Tahom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ahoma"/>
          <a:ea typeface="Tahoma"/>
          <a:cs typeface="Tahoma"/>
        </a:font>
        <a:srgbClr val="2B548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DDD"/>
          </a:solidFill>
        </a:fill>
      </a:tcStyle>
    </a:wholeTbl>
    <a:band2H>
      <a:tcTxStyle b="def" i="def"/>
      <a:tcStyle>
        <a:tcBdr/>
        <a:fill>
          <a:solidFill>
            <a:srgbClr val="E6EFEF"/>
          </a:solidFill>
        </a:fill>
      </a:tcStyle>
    </a:band2H>
    <a:firstCol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ahoma"/>
          <a:ea typeface="Tahoma"/>
          <a:cs typeface="Tahoma"/>
        </a:font>
        <a:srgbClr val="2B548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ahoma"/>
          <a:ea typeface="Tahoma"/>
          <a:cs typeface="Tahoma"/>
        </a:font>
        <a:srgbClr val="2B548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ahoma"/>
          <a:ea typeface="Tahoma"/>
          <a:cs typeface="Tahoma"/>
        </a:font>
        <a:srgbClr val="2B548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9EC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ahoma"/>
          <a:ea typeface="Tahoma"/>
          <a:cs typeface="Tahoma"/>
        </a:font>
        <a:srgbClr val="2B548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B5481"/>
              </a:solidFill>
              <a:prstDash val="solid"/>
              <a:round/>
            </a:ln>
          </a:top>
          <a:bottom>
            <a:ln w="25400" cap="flat">
              <a:solidFill>
                <a:srgbClr val="2B548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B5481"/>
              </a:solidFill>
              <a:prstDash val="solid"/>
              <a:round/>
            </a:ln>
          </a:top>
          <a:bottom>
            <a:ln w="25400" cap="flat">
              <a:solidFill>
                <a:srgbClr val="2B548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ahoma"/>
          <a:ea typeface="Tahoma"/>
          <a:cs typeface="Tahoma"/>
        </a:font>
        <a:srgbClr val="2B5481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FD7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B5481"/>
          </a:solidFill>
        </a:fill>
      </a:tcStyle>
    </a:firstCol>
    <a:lastRow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B5481"/>
          </a:solidFill>
        </a:fill>
      </a:tcStyle>
    </a:lastRow>
    <a:firstRow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B548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ahoma"/>
          <a:ea typeface="Tahoma"/>
          <a:cs typeface="Tahom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384892" y="6432651"/>
            <a:ext cx="301909" cy="28882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b">
            <a:spAutoFit/>
          </a:bodyPr>
          <a:lstStyle>
            <a:lvl1pPr algn="r">
              <a:defRPr sz="1400">
                <a:solidFill>
                  <a:srgbClr val="FFFFFF"/>
                </a:solidFill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E5FFFF"/>
          </a:solidFill>
          <a:uFillTx/>
          <a:latin typeface="Tahoma"/>
          <a:ea typeface="Tahoma"/>
          <a:cs typeface="Tahoma"/>
          <a:sym typeface="Tahom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E5FFFF"/>
          </a:solidFill>
          <a:uFillTx/>
          <a:latin typeface="Tahoma"/>
          <a:ea typeface="Tahoma"/>
          <a:cs typeface="Tahoma"/>
          <a:sym typeface="Tahom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E5FFFF"/>
          </a:solidFill>
          <a:uFillTx/>
          <a:latin typeface="Tahoma"/>
          <a:ea typeface="Tahoma"/>
          <a:cs typeface="Tahoma"/>
          <a:sym typeface="Tahom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E5FFFF"/>
          </a:solidFill>
          <a:uFillTx/>
          <a:latin typeface="Tahoma"/>
          <a:ea typeface="Tahoma"/>
          <a:cs typeface="Tahoma"/>
          <a:sym typeface="Tahom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E5FFFF"/>
          </a:solidFill>
          <a:uFillTx/>
          <a:latin typeface="Tahoma"/>
          <a:ea typeface="Tahoma"/>
          <a:cs typeface="Tahoma"/>
          <a:sym typeface="Tahoma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E5FFFF"/>
          </a:solidFill>
          <a:uFillTx/>
          <a:latin typeface="Tahoma"/>
          <a:ea typeface="Tahoma"/>
          <a:cs typeface="Tahoma"/>
          <a:sym typeface="Tahoma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E5FFFF"/>
          </a:solidFill>
          <a:uFillTx/>
          <a:latin typeface="Tahoma"/>
          <a:ea typeface="Tahoma"/>
          <a:cs typeface="Tahoma"/>
          <a:sym typeface="Tahoma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E5FFFF"/>
          </a:solidFill>
          <a:uFillTx/>
          <a:latin typeface="Tahoma"/>
          <a:ea typeface="Tahoma"/>
          <a:cs typeface="Tahoma"/>
          <a:sym typeface="Tahoma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E5FFFF"/>
          </a:solidFill>
          <a:uFillTx/>
          <a:latin typeface="Tahoma"/>
          <a:ea typeface="Tahoma"/>
          <a:cs typeface="Tahoma"/>
          <a:sym typeface="Tahom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CCFF"/>
        </a:buClr>
        <a:buSzPct val="65000"/>
        <a:buFontTx/>
        <a:buChar char="■"/>
        <a:tabLst/>
        <a:defRPr b="0" baseline="0" cap="none" i="0" spc="0" strike="noStrike" sz="3200" u="none">
          <a:solidFill>
            <a:srgbClr val="FFFFFF"/>
          </a:solidFill>
          <a:uFillTx/>
          <a:latin typeface="Tahoma"/>
          <a:ea typeface="Tahoma"/>
          <a:cs typeface="Tahoma"/>
          <a:sym typeface="Tahoma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CCFF"/>
        </a:buClr>
        <a:buSzPct val="65000"/>
        <a:buFontTx/>
        <a:buChar char="■"/>
        <a:tabLst/>
        <a:defRPr b="0" baseline="0" cap="none" i="0" spc="0" strike="noStrike" sz="3200" u="none">
          <a:solidFill>
            <a:srgbClr val="FFFFFF"/>
          </a:solidFill>
          <a:uFillTx/>
          <a:latin typeface="Tahoma"/>
          <a:ea typeface="Tahoma"/>
          <a:cs typeface="Tahoma"/>
          <a:sym typeface="Tahoma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CCFF"/>
        </a:buClr>
        <a:buSzPct val="65000"/>
        <a:buFontTx/>
        <a:buChar char="■"/>
        <a:tabLst/>
        <a:defRPr b="0" baseline="0" cap="none" i="0" spc="0" strike="noStrike" sz="3200" u="none">
          <a:solidFill>
            <a:srgbClr val="FFFFFF"/>
          </a:solidFill>
          <a:uFillTx/>
          <a:latin typeface="Tahoma"/>
          <a:ea typeface="Tahoma"/>
          <a:cs typeface="Tahoma"/>
          <a:sym typeface="Tahoma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CCFF"/>
        </a:buClr>
        <a:buSzPct val="65000"/>
        <a:buFontTx/>
        <a:buChar char="■"/>
        <a:tabLst/>
        <a:defRPr b="0" baseline="0" cap="none" i="0" spc="0" strike="noStrike" sz="3200" u="none">
          <a:solidFill>
            <a:srgbClr val="FFFFFF"/>
          </a:solidFill>
          <a:uFillTx/>
          <a:latin typeface="Tahoma"/>
          <a:ea typeface="Tahoma"/>
          <a:cs typeface="Tahoma"/>
          <a:sym typeface="Tahoma"/>
        </a:defRPr>
      </a:lvl4pPr>
      <a:lvl5pPr marL="22352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CCFF"/>
        </a:buClr>
        <a:buSzPct val="65000"/>
        <a:buFontTx/>
        <a:buChar char="■"/>
        <a:tabLst/>
        <a:defRPr b="0" baseline="0" cap="none" i="0" spc="0" strike="noStrike" sz="3200" u="none">
          <a:solidFill>
            <a:srgbClr val="FFFFFF"/>
          </a:solidFill>
          <a:uFillTx/>
          <a:latin typeface="Tahoma"/>
          <a:ea typeface="Tahoma"/>
          <a:cs typeface="Tahoma"/>
          <a:sym typeface="Tahoma"/>
        </a:defRPr>
      </a:lvl5pPr>
      <a:lvl6pPr marL="26924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CCFF"/>
        </a:buClr>
        <a:buSzPct val="65000"/>
        <a:buFont typeface="Wingdings"/>
        <a:buChar char=""/>
        <a:tabLst/>
        <a:defRPr b="0" baseline="0" cap="none" i="0" spc="0" strike="noStrike" sz="3200" u="none">
          <a:solidFill>
            <a:srgbClr val="FFFFFF"/>
          </a:solidFill>
          <a:uFillTx/>
          <a:latin typeface="Tahoma"/>
          <a:ea typeface="Tahoma"/>
          <a:cs typeface="Tahoma"/>
          <a:sym typeface="Tahoma"/>
        </a:defRPr>
      </a:lvl6pPr>
      <a:lvl7pPr marL="31496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CCFF"/>
        </a:buClr>
        <a:buSzPct val="65000"/>
        <a:buFont typeface="Wingdings"/>
        <a:buChar char=""/>
        <a:tabLst/>
        <a:defRPr b="0" baseline="0" cap="none" i="0" spc="0" strike="noStrike" sz="3200" u="none">
          <a:solidFill>
            <a:srgbClr val="FFFFFF"/>
          </a:solidFill>
          <a:uFillTx/>
          <a:latin typeface="Tahoma"/>
          <a:ea typeface="Tahoma"/>
          <a:cs typeface="Tahoma"/>
          <a:sym typeface="Tahoma"/>
        </a:defRPr>
      </a:lvl7pPr>
      <a:lvl8pPr marL="36068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CCFF"/>
        </a:buClr>
        <a:buSzPct val="65000"/>
        <a:buFont typeface="Wingdings"/>
        <a:buChar char=""/>
        <a:tabLst/>
        <a:defRPr b="0" baseline="0" cap="none" i="0" spc="0" strike="noStrike" sz="3200" u="none">
          <a:solidFill>
            <a:srgbClr val="FFFFFF"/>
          </a:solidFill>
          <a:uFillTx/>
          <a:latin typeface="Tahoma"/>
          <a:ea typeface="Tahoma"/>
          <a:cs typeface="Tahoma"/>
          <a:sym typeface="Tahoma"/>
        </a:defRPr>
      </a:lvl8pPr>
      <a:lvl9pPr marL="40640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00CCFF"/>
        </a:buClr>
        <a:buSzPct val="65000"/>
        <a:buFont typeface="Wingdings"/>
        <a:buChar char=""/>
        <a:tabLst/>
        <a:defRPr b="0" baseline="0" cap="none" i="0" spc="0" strike="noStrike" sz="3200" u="none">
          <a:solidFill>
            <a:srgbClr val="FFFFFF"/>
          </a:solidFill>
          <a:uFillTx/>
          <a:latin typeface="Tahoma"/>
          <a:ea typeface="Tahoma"/>
          <a:cs typeface="Tahoma"/>
          <a:sym typeface="Tahom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effectLst>
            <a:outerShdw sx="100000" sy="100000" kx="0" ky="0" algn="b" rotWithShape="0" blurRad="12700" dist="25400" dir="270000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effectLst>
            <a:outerShdw sx="100000" sy="100000" kx="0" ky="0" algn="b" rotWithShape="0" blurRad="12700" dist="25400" dir="270000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effectLst>
            <a:outerShdw sx="100000" sy="100000" kx="0" ky="0" algn="b" rotWithShape="0" blurRad="12700" dist="25400" dir="270000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effectLst>
            <a:outerShdw sx="100000" sy="100000" kx="0" ky="0" algn="b" rotWithShape="0" blurRad="12700" dist="25400" dir="270000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effectLst>
            <a:outerShdw sx="100000" sy="100000" kx="0" ky="0" algn="b" rotWithShape="0" blurRad="12700" dist="25400" dir="270000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effectLst>
            <a:outerShdw sx="100000" sy="100000" kx="0" ky="0" algn="b" rotWithShape="0" blurRad="12700" dist="25400" dir="270000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effectLst>
            <a:outerShdw sx="100000" sy="100000" kx="0" ky="0" algn="b" rotWithShape="0" blurRad="12700" dist="25400" dir="270000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effectLst>
            <a:outerShdw sx="100000" sy="100000" kx="0" ky="0" algn="b" rotWithShape="0" blurRad="12700" dist="25400" dir="270000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effectLst>
            <a:outerShdw sx="100000" sy="100000" kx="0" ky="0" algn="b" rotWithShape="0" blurRad="12700" dist="25400" dir="2700000">
              <a:srgbClr val="000000"/>
            </a:outerShdw>
          </a:effectLst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t3" descr="t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TextBox 20"/>
          <p:cNvSpPr txBox="1"/>
          <p:nvPr/>
        </p:nvSpPr>
        <p:spPr>
          <a:xfrm>
            <a:off x="731520" y="384048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03366"/>
                </a:solidFill>
                <a:latin typeface="Arial"/>
              </a:defRPr>
            </a:pPr>
            <a:r>
              <a:t>Smart University Complaint System</a:t>
            </a:r>
          </a:p>
          <a:p>
            <a:pPr algn="ctr">
              <a:spcAft>
                <a:spcPts val="800"/>
              </a:spcAft>
              <a:defRPr sz="1400" b="1">
                <a:solidFill>
                  <a:srgbClr val="1665C0"/>
                </a:solidFill>
                <a:latin typeface="Arial"/>
              </a:defRPr>
            </a:pPr>
            <a:r>
              <a:t>A Web-Based Platform for Digital Complaint Management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Group Id: S26PROJECT4EE01 (BC220400155, BC220400156)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Supervisor Name: Muhammad Raheel  |  Virtual University of Pakistan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Write Your Project Title Here"/>
          <p:cNvSpPr txBox="1"/>
          <p:nvPr>
            <p:ph type="title" idx="4294967295"/>
          </p:nvPr>
        </p:nvSpPr>
        <p:spPr>
          <a:xfrm>
            <a:off x="609600" y="1066800"/>
            <a:ext cx="8001000" cy="2743200"/>
          </a:xfrm>
          <a:prstGeom prst="rect">
            <a:avLst/>
          </a:prstGeom>
        </p:spPr>
        <p:txBody>
          <a:bodyPr anchor="t" wrap="square">
            <a:normAutofit fontScale="100000" lnSpcReduction="0"/>
          </a:bodyPr>
          <a:lstStyle>
            <a:lvl1pPr>
              <a:defRPr sz="5900">
                <a:effectLst>
                  <a:outerShdw sx="100000" sy="100000" kx="0" ky="0" algn="b" rotWithShape="0" blurRad="12700" dist="38100" dir="2700000">
                    <a:srgbClr val="000000"/>
                  </a:outerShdw>
                </a:effectLst>
              </a:defRPr>
            </a:lvl1pPr>
          </a:lstStyle>
          <a:p>
            <a:pPr algn="ctr">
              <a:spcAft>
                <a:spcPts val="800"/>
              </a:spcAft>
              <a:defRPr sz="2500" b="1">
                <a:solidFill>
                  <a:srgbClr val="003366"/>
                </a:solidFill>
                <a:latin typeface="Arial"/>
              </a:defRPr>
            </a:pPr>
            <a:r>
              <a:t>Smart University Complaint System (SUCS)</a:t>
            </a:r>
          </a:p>
          <a:p>
            <a:pPr algn="ctr">
              <a:spcAft>
                <a:spcPts val="1000"/>
              </a:spcAft>
              <a:defRPr sz="1400" b="1">
                <a:solidFill>
                  <a:srgbClr val="1665C0"/>
                </a:solidFill>
                <a:latin typeface="Arial"/>
              </a:defRPr>
            </a:pPr>
            <a:r>
              <a:t>Final Project Presentation | CS619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Group Id: S26PROJECT4EE01</a:t>
            </a:r>
            <a:br/>
            <a:r>
              <a:t>Group Members: BC220400155, BC220400156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475569"/>
                </a:solidFill>
                <a:latin typeface="Arial"/>
              </a:defRPr>
            </a:pPr>
            <a:r>
              <a:t>Project Supervisor: Muhammad Raheel</a:t>
            </a:r>
          </a:p>
        </p:txBody>
      </p:sp>
      <p:pic>
        <p:nvPicPr>
          <p:cNvPr id="23" name="C:\Users\usman.waheed\Desktop\vulogo.jpg" descr="C:\Users\usman.waheed\Desktop\vulogo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0" y="5029200"/>
            <a:ext cx="2014538" cy="1463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roup Members Introduction"/>
          <p:cNvSpPr txBox="1"/>
          <p:nvPr>
            <p:ph type="title" idx="4294967295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defTabSz="777240">
              <a:defRPr sz="5015">
                <a:effectLst>
                  <a:outerShdw sx="100000" sy="100000" kx="0" ky="0" algn="b" rotWithShape="0" blurRad="10795" dist="32385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Group Members Introduction</a:t>
            </a:r>
          </a:p>
        </p:txBody>
      </p:sp>
      <p:sp>
        <p:nvSpPr>
          <p:cNvPr id="26" name="Write your group members introduction here with names and VU Id"/>
          <p:cNvSpPr txBox="1"/>
          <p:nvPr>
            <p:ph type="body" sz="half" idx="4294967295"/>
          </p:nvPr>
        </p:nvSpPr>
        <p:spPr>
          <a:xfrm>
            <a:off x="457200" y="1645920"/>
            <a:ext cx="8229600" cy="4754880"/>
          </a:xfrm>
          <a:prstGeom prst="rect">
            <a:avLst/>
          </a:prstGeom>
        </p:spPr>
        <p:txBody>
          <a:bodyPr wrap="square">
            <a:normAutofit fontScale="100000" lnSpcReduction="0"/>
          </a:bodyPr>
          <a:lstStyle/>
          <a:p>
            <a:pPr>
              <a:spcAft>
                <a:spcPts val="200"/>
              </a:spcAft>
              <a:buSzTx/>
              <a:buFont typeface="Wingdings"/>
              <a:buNone/>
              <a:defRPr sz="1200" b="1">
                <a:solidFill>
                  <a:srgbClr val="003366"/>
                </a:solidFill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Arial"/>
              </a:defRPr>
            </a:pPr>
            <a:r>
              <a:t>• Group Member 1: BC220400155</a:t>
            </a:r>
          </a:p>
          <a:p>
            <a:pPr>
              <a:spcAft>
                <a:spcPts val="10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    Role &amp; Scope: Lead Software Architecture, Python Flask Backend Engine, SQLite 3 Relational Database Normalization, Automated Keyword Priority Triage, and Conflict-of-Interest Firewall Enforcement.</a:t>
            </a:r>
          </a:p>
          <a:p>
            <a:pPr>
              <a:spcAft>
                <a:spcPts val="200"/>
              </a:spcAft>
              <a:defRPr sz="1200" b="1">
                <a:solidFill>
                  <a:srgbClr val="003366"/>
                </a:solidFill>
                <a:latin typeface="Arial"/>
              </a:defRPr>
            </a:pPr>
            <a:r>
              <a:t>• Group Member 2: BC220400156</a:t>
            </a:r>
          </a:p>
          <a:p>
            <a:pPr>
              <a:spcAft>
                <a:spcPts val="10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    Role &amp; Scope: UI/UX Engineering, Jinja2 Template Integration, Tailwind CSS Responsive Interface Design, Student Dashboard &amp; Quota Counter, and Pytest Automated Quality Assurance Test Suite.</a:t>
            </a:r>
          </a:p>
          <a:p>
            <a:pPr>
              <a:spcAft>
                <a:spcPts val="200"/>
              </a:spcAft>
              <a:defRPr sz="1200" b="1">
                <a:solidFill>
                  <a:srgbClr val="003366"/>
                </a:solidFill>
                <a:latin typeface="Arial"/>
              </a:defRPr>
            </a:pPr>
            <a:r>
              <a:t>• Project Supervisor: Muhammad Raheel</a:t>
            </a:r>
          </a:p>
          <a:p>
            <a:pPr>
              <a:spcAft>
                <a:spcPts val="10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    Role &amp; Scope: Academic supervision, requirements validation, methodology oversight, and evaluation guidance for the Virtual University Final Project (CS619).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INTRODUCTION OF PROJECT"/>
          <p:cNvSpPr txBox="1"/>
          <p:nvPr>
            <p:ph type="title" idx="4294967295"/>
          </p:nvPr>
        </p:nvSpPr>
        <p:spPr>
          <a:xfrm>
            <a:off x="762000" y="228600"/>
            <a:ext cx="7772400" cy="18288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48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INTRODUCTION OF PROJECT</a:t>
            </a:r>
          </a:p>
        </p:txBody>
      </p:sp>
      <p:sp>
        <p:nvSpPr>
          <p:cNvPr id="29" name="Double-click to edit"/>
          <p:cNvSpPr txBox="1"/>
          <p:nvPr>
            <p:ph type="body" sz="quarter" idx="4294967295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 algn="ctr">
              <a:buSzTx/>
              <a:buFont typeface="Wingdings"/>
              <a:buNone/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/>
          </a:p>
        </p:txBody>
      </p:sp>
      <p:pic>
        <p:nvPicPr>
          <p:cNvPr id="30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05800" y="6305550"/>
            <a:ext cx="838200" cy="552450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Give here the introduction of your project in a professional way with proper headings. Try to write in bullets form. You can cover about two slides on introduction."/>
          <p:cNvSpPr txBox="1"/>
          <p:nvPr/>
        </p:nvSpPr>
        <p:spPr>
          <a:xfrm>
            <a:off x="960119" y="2666999"/>
            <a:ext cx="7452362" cy="238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wrap="square">
            <a:spAutoFit/>
          </a:bodyPr>
          <a:lstStyle>
            <a:lvl1pPr>
              <a:spcBef>
                <a:spcPts val="1600"/>
              </a:spcBef>
              <a:defRPr sz="2800">
                <a:solidFill>
                  <a:srgbClr val="FFFFFF"/>
                </a:solidFill>
              </a:defRPr>
            </a:lvl1pPr>
          </a:lstStyle>
          <a:p>
            <a:pPr>
              <a:spcAft>
                <a:spcPts val="100"/>
              </a:spcAft>
              <a:defRPr sz="1150" b="1">
                <a:solidFill>
                  <a:srgbClr val="003366"/>
                </a:solidFill>
                <a:latin typeface="Arial"/>
              </a:defRPr>
            </a:pPr>
            <a:r>
              <a:t>▶ Problem Statement:</a:t>
            </a:r>
          </a:p>
          <a:p>
            <a:pPr>
              <a:spcAft>
                <a:spcPts val="6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    • Traditional campus grievance methods (paper suggestion boxes, unstructured emails) result in lost complaints, zero traceability, spamming, and severe conflict of interest when staff handle complaints filed against themselves.</a:t>
            </a:r>
          </a:p>
          <a:p>
            <a:pPr>
              <a:spcAft>
                <a:spcPts val="100"/>
              </a:spcAft>
              <a:defRPr sz="1150" b="1">
                <a:solidFill>
                  <a:srgbClr val="003366"/>
                </a:solidFill>
                <a:latin typeface="Arial"/>
              </a:defRPr>
            </a:pPr>
            <a:r>
              <a:t>▶ Proposed Solution:</a:t>
            </a:r>
          </a:p>
          <a:p>
            <a:pPr>
              <a:spcAft>
                <a:spcPts val="6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    • SUCS is an intelligent, role-governed web application featuring dedicated portals for Students, Administrators, and the Head of Department (HOD) with automated routing and status monitoring.</a:t>
            </a:r>
          </a:p>
          <a:p>
            <a:pPr>
              <a:spcAft>
                <a:spcPts val="100"/>
              </a:spcAft>
              <a:defRPr sz="1150" b="1">
                <a:solidFill>
                  <a:srgbClr val="003366"/>
                </a:solidFill>
                <a:latin typeface="Arial"/>
              </a:defRPr>
            </a:pPr>
            <a:r>
              <a:t>▶ Intelligent Triage &amp; Automation:</a:t>
            </a:r>
          </a:p>
          <a:p>
            <a:pPr>
              <a:spcAft>
                <a:spcPts val="6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    • Includes automated hazard keyword priority escalation (High P1), 5-complaint monthly quotas, Conflict-of-Interest isolation (direct HOD escalation), and Category-Target problem clustering for 1-Click batch resolution.</a:t>
            </a:r>
          </a:p>
          <a:p>
            <a:pPr>
              <a:spcAft>
                <a:spcPts val="100"/>
              </a:spcAft>
              <a:defRPr sz="1150" b="1">
                <a:solidFill>
                  <a:srgbClr val="003366"/>
                </a:solidFill>
                <a:latin typeface="Arial"/>
              </a:defRPr>
            </a:pPr>
            <a:r>
              <a:t>▶ Project Scope &amp; Boundaries:</a:t>
            </a:r>
          </a:p>
          <a:p>
            <a:pPr>
              <a:spcAft>
                <a:spcPts val="600"/>
              </a:spcAft>
              <a:defRPr sz="1000" b="0">
                <a:solidFill>
                  <a:srgbClr val="1E293B"/>
                </a:solidFill>
                <a:latin typeface="Arial"/>
              </a:defRPr>
            </a:pPr>
            <a:r>
              <a:t>    • Focuses on internal web grievance management. Mobile apps, external SMS/Email gateways, and third-party ERP integration are scoped as future iterations.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rovide Here the Diagram of Process Model. You can make the diagram of process model according to your choice but it should be correct."/>
          <p:cNvSpPr txBox="1"/>
          <p:nvPr/>
        </p:nvSpPr>
        <p:spPr>
          <a:xfrm>
            <a:off x="548640" y="274320"/>
            <a:ext cx="8046720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wrap="square">
            <a:spAutoFit/>
          </a:bodyPr>
          <a:lstStyle>
            <a:lvl1pPr>
              <a:spcBef>
                <a:spcPts val="1900"/>
              </a:spcBef>
              <a:defRPr sz="3200">
                <a:solidFill>
                  <a:srgbClr val="FFFFFF"/>
                </a:solidFill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spcAft>
                <a:spcPts val="200"/>
              </a:spcAft>
              <a:defRPr sz="2000" b="1">
                <a:solidFill>
                  <a:srgbClr val="003366"/>
                </a:solidFill>
                <a:latin typeface="Arial"/>
              </a:defRPr>
            </a:pPr>
            <a:r>
              <a:t>Process Model: VU Hybrid Waterfall-Spiral Lifecycle</a:t>
            </a:r>
          </a:p>
          <a:p>
            <a:pPr>
              <a:spcAft>
                <a:spcPts val="200"/>
              </a:spcAft>
              <a:defRPr sz="1050" b="1">
                <a:solidFill>
                  <a:srgbClr val="1665C0"/>
                </a:solidFill>
                <a:latin typeface="Arial"/>
              </a:defRPr>
            </a:pPr>
            <a:r>
              <a:t>Waterfall phase discipline integrated with Spiral risk mitigation reviews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1341596"/>
            <a:ext cx="8138160" cy="508920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edia_17867887311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7316"/>
            <a:ext cx="8046720" cy="49977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circl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Use Case Diagram"/>
          <p:cNvSpPr txBox="1"/>
          <p:nvPr>
            <p:ph type="title" idx="4294967295"/>
          </p:nvPr>
        </p:nvSpPr>
        <p:spPr>
          <a:xfrm>
            <a:off x="609600" y="304800"/>
            <a:ext cx="7772400" cy="9906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Use Case Diagram</a:t>
            </a:r>
          </a:p>
        </p:txBody>
      </p:sp>
      <p:sp>
        <p:nvSpPr>
          <p:cNvPr id="36" name="Provide Use Case Diagram of your Application here"/>
          <p:cNvSpPr txBox="1"/>
          <p:nvPr>
            <p:ph type="body" sz="quarter" idx="4294967295"/>
          </p:nvPr>
        </p:nvSpPr>
        <p:spPr>
          <a:xfrm>
            <a:off x="1371600" y="3886200"/>
            <a:ext cx="6400800" cy="13716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 algn="ctr">
              <a:buSzTx/>
              <a:buFont typeface="Wingdings"/>
              <a:buNone/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/>
          </a:p>
        </p:txBody>
      </p:sp>
      <p:sp>
        <p:nvSpPr>
          <p:cNvPr id="37" name="Rounded Rectangle 36"/>
          <p:cNvSpPr/>
          <p:nvPr/>
        </p:nvSpPr>
        <p:spPr>
          <a:xfrm>
            <a:off x="502920" y="1341596"/>
            <a:ext cx="8138160" cy="508920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edia_17867886883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7316"/>
            <a:ext cx="8046720" cy="4997767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usiness Rules Catalog"/>
          <p:cNvSpPr txBox="1"/>
          <p:nvPr>
            <p:ph type="title" idx="4294967295"/>
          </p:nvPr>
        </p:nvSpPr>
        <p:spPr>
          <a:xfrm>
            <a:off x="685800" y="533400"/>
            <a:ext cx="7772400" cy="18288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Business Rules Catalog (BRC)</a:t>
            </a:r>
          </a:p>
        </p:txBody>
      </p:sp>
      <p:sp>
        <p:nvSpPr>
          <p:cNvPr id="39" name="Write down here some core business rules/functional requirements of your project."/>
          <p:cNvSpPr txBox="1"/>
          <p:nvPr>
            <p:ph type="body" sz="quarter" idx="4294967295"/>
          </p:nvPr>
        </p:nvSpPr>
        <p:spPr>
          <a:xfrm>
            <a:off x="1371600" y="1645920"/>
            <a:ext cx="6400800" cy="4754880"/>
          </a:xfrm>
          <a:prstGeom prst="rect">
            <a:avLst/>
          </a:prstGeom>
        </p:spPr>
        <p:txBody>
          <a:bodyPr wrap="square">
            <a:normAutofit fontScale="100000" lnSpcReduction="0"/>
          </a:bodyPr>
          <a:lstStyle>
            <a:lvl1pPr marL="0" indent="0" algn="ctr">
              <a:buSzTx/>
              <a:buFont typeface="Wingdings"/>
              <a:buNone/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BR-01: Monthly Quota Limit (FR3)</a:t>
            </a:r>
          </a:p>
          <a:p>
            <a:pPr>
              <a:spcAft>
                <a:spcPts val="5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Each student is limited to exactly 5 complaints per calendar month to prevent queue flooding and frivolous submissions.</a:t>
            </a:r>
          </a:p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BR-02: Conflict of Interest (COI) Firewall (FR7)</a:t>
            </a:r>
          </a:p>
          <a:p>
            <a:pPr>
              <a:spcAft>
                <a:spcPts val="5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If a complaint is directed against Administration, it completely bypasses the Admin queue and routes directly to the HOD.</a:t>
            </a:r>
          </a:p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BR-03: Emergency Keyword Priority Escalation (FR6)</a:t>
            </a:r>
          </a:p>
          <a:p>
            <a:pPr>
              <a:spcAft>
                <a:spcPts val="5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Complaints indicating physical danger (urgent, fire, shock, leak, hazard, broken wire) automatically escalate to High Priority (P1).</a:t>
            </a:r>
          </a:p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BR-04: Intelligent Auto-Grouping (FR9)</a:t>
            </a:r>
          </a:p>
          <a:p>
            <a:pPr>
              <a:spcAft>
                <a:spcPts val="5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Complaints regarding the same Category and Target are automatically clustered under a common group_id token.</a:t>
            </a:r>
          </a:p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BR-05: 1-Click Batch Resolution</a:t>
            </a:r>
          </a:p>
          <a:p>
            <a:pPr>
              <a:spcAft>
                <a:spcPts val="5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Admin and HOD can resolve all linked complaints in a cluster simultaneously with a single click and uniform audit note.</a:t>
            </a:r>
          </a:p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BR-06: Mandatory Progress Remarks</a:t>
            </a:r>
          </a:p>
          <a:p>
            <a:pPr>
              <a:spcAft>
                <a:spcPts val="5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Changing ticket status to 'In-Progress' strictly mandates an investigative comment to keep students informed.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Architectural Design"/>
          <p:cNvSpPr txBox="1"/>
          <p:nvPr>
            <p:ph type="title" idx="4294967295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b="1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Architectural Design (3-Tier Layered MVC)</a:t>
            </a:r>
          </a:p>
        </p:txBody>
      </p:sp>
      <p:sp>
        <p:nvSpPr>
          <p:cNvPr id="42" name="Provide Architecture Diagram Here"/>
          <p:cNvSpPr txBox="1"/>
          <p:nvPr/>
        </p:nvSpPr>
        <p:spPr>
          <a:xfrm>
            <a:off x="1569719" y="3124200"/>
            <a:ext cx="6690362" cy="58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342900" indent="-342900">
              <a:spcBef>
                <a:spcPts val="700"/>
              </a:spcBef>
              <a:defRPr sz="3200">
                <a:solidFill>
                  <a:srgbClr val="FFFFFF"/>
                </a:solidFill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/>
          </a:p>
        </p:txBody>
      </p:sp>
      <p:sp>
        <p:nvSpPr>
          <p:cNvPr id="43" name="Rounded Rectangle 42"/>
          <p:cNvSpPr/>
          <p:nvPr/>
        </p:nvSpPr>
        <p:spPr>
          <a:xfrm>
            <a:off x="751760" y="1234440"/>
            <a:ext cx="7640478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media_17867889227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80" y="1280160"/>
            <a:ext cx="7549038" cy="521208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am Structure"/>
          <p:cNvSpPr txBox="1"/>
          <p:nvPr>
            <p:ph type="title" idx="4294967295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Team Structure &amp; Work Breakdown</a:t>
            </a:r>
          </a:p>
        </p:txBody>
      </p:sp>
      <p:sp>
        <p:nvSpPr>
          <p:cNvPr id="45" name="Provide here the diagrammatic view of your team structure and key responsibilities."/>
          <p:cNvSpPr txBox="1"/>
          <p:nvPr>
            <p:ph type="body" sz="quarter" idx="4294967295"/>
          </p:nvPr>
        </p:nvSpPr>
        <p:spPr>
          <a:xfrm>
            <a:off x="457200" y="1645920"/>
            <a:ext cx="8229600" cy="4754880"/>
          </a:xfrm>
          <a:prstGeom prst="rect">
            <a:avLst/>
          </a:prstGeom>
        </p:spPr>
        <p:txBody>
          <a:bodyPr wrap="square">
            <a:normAutofit fontScale="100000" lnSpcReduction="0"/>
          </a:bodyPr>
          <a:lstStyle>
            <a:lvl1pPr>
              <a:buSzTx/>
              <a:buFont typeface="Wingdings"/>
              <a:buNone/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spcAft>
                <a:spcPts val="200"/>
              </a:spcAft>
              <a:defRPr sz="1150" b="1">
                <a:solidFill>
                  <a:srgbClr val="003366"/>
                </a:solidFill>
                <a:latin typeface="Arial"/>
              </a:defRPr>
            </a:pPr>
            <a:r>
              <a:t>• Group Member 1: BC220400155 (Backend &amp; Architecture Lead)</a:t>
            </a:r>
          </a:p>
          <a:p>
            <a:pPr>
              <a:spcAft>
                <a:spcPts val="3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- Project architecture definition &amp; 3-Tier Layered MVC specification.</a:t>
            </a:r>
          </a:p>
          <a:p>
            <a:pPr>
              <a:spcAft>
                <a:spcPts val="3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- Python 3.9 Flask backend routing, session management, and Werkzeug PBKDF2 hashing.</a:t>
            </a:r>
          </a:p>
          <a:p>
            <a:pPr>
              <a:spcAft>
                <a:spcPts val="3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- Normalized SQLite 3 database schema design (3NF), foreign keys, and indices.</a:t>
            </a:r>
          </a:p>
          <a:p>
            <a:pPr>
              <a:spcAft>
                <a:spcPts val="3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- Emergency keyword priority triage engine and Conflict-of-Interest routing logic.</a:t>
            </a:r>
          </a:p>
          <a:p>
            <a:pPr>
              <a:spcAft>
                <a:spcPts val="200"/>
              </a:spcAft>
              <a:defRPr sz="1150" b="1">
                <a:solidFill>
                  <a:srgbClr val="003366"/>
                </a:solidFill>
                <a:latin typeface="Arial"/>
              </a:defRPr>
            </a:pPr>
            <a:r>
              <a:t>• Group Member 2: BC220400156 (Frontend &amp; Quality Assurance Lead)</a:t>
            </a:r>
          </a:p>
          <a:p>
            <a:pPr>
              <a:spcAft>
                <a:spcPts val="3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- Tailwind CSS aesthetic styling, responsive grid layouts, and color-coded status badges.</a:t>
            </a:r>
          </a:p>
          <a:p>
            <a:pPr>
              <a:spcAft>
                <a:spcPts val="3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- Jinja2 template architecture (Student submission, Admin desk, HOD console, DB viewer).</a:t>
            </a:r>
          </a:p>
          <a:p>
            <a:pPr>
              <a:spcAft>
                <a:spcPts val="3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- Software Requirements Specification (SRS) &amp; Use Case Scenario documentation.</a:t>
            </a:r>
          </a:p>
          <a:p>
            <a:pPr>
              <a:spcAft>
                <a:spcPts val="3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- Automated Pytest test suite implementation (9 automated test cases, 100% pass rate).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roject Schedule"/>
          <p:cNvSpPr txBox="1"/>
          <p:nvPr>
            <p:ph type="title" idx="4294967295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Project Schedule (Gantt Chart)</a:t>
            </a:r>
          </a:p>
        </p:txBody>
      </p:sp>
      <p:sp>
        <p:nvSpPr>
          <p:cNvPr id="48" name="Provide the Schedule (Gantt Chart) of your…"/>
          <p:cNvSpPr txBox="1"/>
          <p:nvPr>
            <p:ph type="body" sz="quarter" idx="4294967295"/>
          </p:nvPr>
        </p:nvSpPr>
        <p:spPr>
          <a:xfrm>
            <a:off x="457200" y="1981200"/>
            <a:ext cx="8229600" cy="144780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buSzTx/>
              <a:buFont typeface="Wingdings"/>
              <a:buNone/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pPr>
          </a:p>
        </p:txBody>
      </p:sp>
      <p:sp>
        <p:nvSpPr>
          <p:cNvPr id="49" name="Rounded Rectangle 48"/>
          <p:cNvSpPr/>
          <p:nvPr/>
        </p:nvSpPr>
        <p:spPr>
          <a:xfrm>
            <a:off x="502920" y="1341596"/>
            <a:ext cx="8138160" cy="508920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edia_17867887478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7316"/>
            <a:ext cx="8046720" cy="4997767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equence Diagrams"/>
          <p:cNvSpPr txBox="1"/>
          <p:nvPr>
            <p:ph type="title" idx="4294967295"/>
          </p:nvPr>
        </p:nvSpPr>
        <p:spPr>
          <a:xfrm>
            <a:off x="685800" y="457200"/>
            <a:ext cx="7772400" cy="9906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Sequence Diagram: User Login &amp; Complaint Workflow</a:t>
            </a:r>
          </a:p>
        </p:txBody>
      </p:sp>
      <p:sp>
        <p:nvSpPr>
          <p:cNvPr id="51" name="Provide some core sequence diagrams here. Provide one diagram per slide and give heading at top for each sequence diagram."/>
          <p:cNvSpPr txBox="1"/>
          <p:nvPr>
            <p:ph type="body" sz="half" idx="4294967295"/>
          </p:nvPr>
        </p:nvSpPr>
        <p:spPr>
          <a:xfrm>
            <a:off x="914400" y="2209800"/>
            <a:ext cx="7620000" cy="25908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buSzTx/>
              <a:buFont typeface="Wingdings"/>
              <a:buNone/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/>
          </a:p>
        </p:txBody>
      </p:sp>
      <p:sp>
        <p:nvSpPr>
          <p:cNvPr id="52" name="Rounded Rectangle 51"/>
          <p:cNvSpPr/>
          <p:nvPr/>
        </p:nvSpPr>
        <p:spPr>
          <a:xfrm>
            <a:off x="1584069" y="1234440"/>
            <a:ext cx="5975861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media_17867888957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789" y="1280160"/>
            <a:ext cx="5884421" cy="521208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Logical Model/Class Diagram"/>
          <p:cNvSpPr txBox="1"/>
          <p:nvPr>
            <p:ph type="title" idx="4294967295"/>
          </p:nvPr>
        </p:nvSpPr>
        <p:spPr>
          <a:xfrm>
            <a:off x="381000" y="152400"/>
            <a:ext cx="8229600" cy="7620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Logical Model / Class Diagram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638201" y="1234440"/>
            <a:ext cx="5867597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media_17867889548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21" y="1280160"/>
            <a:ext cx="5776157" cy="521208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Entity-Relationship Diagram"/>
          <p:cNvSpPr txBox="1"/>
          <p:nvPr>
            <p:ph type="title" idx="4294967295"/>
          </p:nvPr>
        </p:nvSpPr>
        <p:spPr>
          <a:xfrm>
            <a:off x="533400" y="381000"/>
            <a:ext cx="8229600" cy="7620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Entity-Relationship Diagram (ERD)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1772007"/>
            <a:ext cx="8138160" cy="258246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media_17867888505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7727"/>
            <a:ext cx="8046720" cy="249102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48640" y="484632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ERD Cardinality &amp; Relational Design: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• USER (1 : 0..1) STUDENT: 1-to-1 specialization for student users tracking monthly complaint quota count.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• STUDENT (1 : N) COMPLAINT: Each student can submit multiple complaints (max 5 per calendar month).</a:t>
            </a:r>
          </a:p>
          <a:p>
            <a:pPr>
              <a:spcAft>
                <a:spcPts val="2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• DEPARTMENT (1 : N) COMPLAINT: Complaints are categorized by target department for isolated triage.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abase Diagram"/>
          <p:cNvSpPr txBox="1"/>
          <p:nvPr>
            <p:ph type="title" idx="4294967295"/>
          </p:nvPr>
        </p:nvSpPr>
        <p:spPr>
          <a:xfrm>
            <a:off x="609600" y="457200"/>
            <a:ext cx="7772400" cy="8382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40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Database Diagram &amp; Schema Specification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769477" y="1234440"/>
            <a:ext cx="5605045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media_1786788977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97" y="1280160"/>
            <a:ext cx="5513605" cy="521208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User Interfaces"/>
          <p:cNvSpPr txBox="1"/>
          <p:nvPr>
            <p:ph type="title" idx="4294967295"/>
          </p:nvPr>
        </p:nvSpPr>
        <p:spPr>
          <a:xfrm>
            <a:off x="609600" y="457200"/>
            <a:ext cx="7772400" cy="8382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4000"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User Interfaces (Application Mockups)</a:t>
            </a:r>
          </a:p>
        </p:txBody>
      </p:sp>
      <p:sp>
        <p:nvSpPr>
          <p:cNvPr id="60" name="Provide screen shots of GUI in different slides of your application here"/>
          <p:cNvSpPr txBox="1"/>
          <p:nvPr>
            <p:ph type="body" sz="quarter" idx="4294967295"/>
          </p:nvPr>
        </p:nvSpPr>
        <p:spPr>
          <a:xfrm>
            <a:off x="1371600" y="2895600"/>
            <a:ext cx="6400800" cy="17526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 algn="ctr">
              <a:buSzTx/>
              <a:buFont typeface="Wingdings"/>
              <a:buNone/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/>
          </a:p>
        </p:txBody>
      </p:sp>
      <p:sp>
        <p:nvSpPr>
          <p:cNvPr id="61" name="Rounded Rectangle 60"/>
          <p:cNvSpPr/>
          <p:nvPr/>
        </p:nvSpPr>
        <p:spPr>
          <a:xfrm>
            <a:off x="502920" y="1979533"/>
            <a:ext cx="3931920" cy="372189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media_1786788997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25253"/>
            <a:ext cx="3840480" cy="3630453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4709160" y="1979533"/>
            <a:ext cx="3931920" cy="372189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media_17867890104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25253"/>
            <a:ext cx="3840480" cy="3630453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ools"/>
          <p:cNvSpPr txBox="1"/>
          <p:nvPr>
            <p:ph type="title" idx="4294967295"/>
          </p:nvPr>
        </p:nvSpPr>
        <p:spPr>
          <a:xfrm>
            <a:off x="457200" y="381000"/>
            <a:ext cx="8229600" cy="13716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</a:defRPr>
            </a:lvl1pPr>
          </a:lstStyle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Tools &amp; Technologies Stack</a:t>
            </a:r>
          </a:p>
        </p:txBody>
      </p:sp>
      <p:sp>
        <p:nvSpPr>
          <p:cNvPr id="63" name="Write the various tools you have used…"/>
          <p:cNvSpPr txBox="1"/>
          <p:nvPr>
            <p:ph type="body" sz="half" idx="4294967295"/>
          </p:nvPr>
        </p:nvSpPr>
        <p:spPr>
          <a:xfrm>
            <a:off x="457200" y="1645920"/>
            <a:ext cx="8229600" cy="4754880"/>
          </a:xfrm>
          <a:prstGeom prst="rect">
            <a:avLst/>
          </a:prstGeom>
        </p:spPr>
        <p:txBody>
          <a:bodyPr wrap="square">
            <a:normAutofit fontScale="100000" lnSpcReduction="0"/>
          </a:bodyPr>
          <a:lstStyle/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effectLst>
                  <a:outerShdw sx="100000" sy="100000" kx="0" ky="0" algn="b" rotWithShape="0" blurRad="12700" dist="25400" dir="2700000">
                    <a:srgbClr val="000000"/>
                  </a:outerShdw>
                </a:effectLst>
                <a:latin typeface="Arial"/>
              </a:defRPr>
            </a:pPr>
            <a:r>
              <a:t>✔ Python 3.9+ Programming Language</a:t>
            </a:r>
          </a:p>
          <a:p>
            <a:pPr>
              <a:spcAft>
                <a:spcPts val="4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Chosen for rapid prototyping, robust standard library, security primitives, and clean syntax.</a:t>
            </a:r>
          </a:p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Flask 2.x Microframework</a:t>
            </a:r>
          </a:p>
          <a:p>
            <a:pPr>
              <a:spcAft>
                <a:spcPts val="4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Lightweight WSGI web framework providing granular control over HTTP routing, sessions, and request dispatching.</a:t>
            </a:r>
          </a:p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SQLite 3 Relational Database Engine</a:t>
            </a:r>
          </a:p>
          <a:p>
            <a:pPr>
              <a:spcAft>
                <a:spcPts val="4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Zero-configuration, serverless, self-contained relational database guaranteeing ACID transaction compliance.</a:t>
            </a:r>
          </a:p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Werkzeug Security Module</a:t>
            </a:r>
          </a:p>
          <a:p>
            <a:pPr>
              <a:spcAft>
                <a:spcPts val="4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Industry-grade password cryptography implementing salted PBKDF2-SHA256 password hashing.</a:t>
            </a:r>
          </a:p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Tailwind CSS Frontend Styling</a:t>
            </a:r>
          </a:p>
          <a:p>
            <a:pPr>
              <a:spcAft>
                <a:spcPts val="4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Modern utility-first CSS framework delivering clean, accessible responsive cards, modals, and status badges.</a:t>
            </a:r>
          </a:p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Jinja2 Template Engine</a:t>
            </a:r>
          </a:p>
          <a:p>
            <a:pPr>
              <a:spcAft>
                <a:spcPts val="4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Server-side template engine providing template inheritance, safe variable escaping, and role-based view isolation.</a:t>
            </a:r>
          </a:p>
          <a:p>
            <a:pPr>
              <a:spcAft>
                <a:spcPts val="100"/>
              </a:spcAft>
              <a:defRPr sz="1100" b="1">
                <a:solidFill>
                  <a:srgbClr val="003366"/>
                </a:solidFill>
                <a:latin typeface="Arial"/>
              </a:defRPr>
            </a:pPr>
            <a:r>
              <a:t>✔ Pytest 8.x Testing Framework</a:t>
            </a:r>
          </a:p>
          <a:p>
            <a:pPr>
              <a:spcAft>
                <a:spcPts val="400"/>
              </a:spcAft>
              <a:defRPr sz="950" b="0">
                <a:solidFill>
                  <a:srgbClr val="1E293B"/>
                </a:solidFill>
                <a:latin typeface="Arial"/>
              </a:defRPr>
            </a:pPr>
            <a:r>
              <a:t>    • Modern automated testing framework driving 9 automated integration test cases verifying 100% of business rules.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Textured">
  <a:themeElements>
    <a:clrScheme name="Textured">
      <a:dk1>
        <a:srgbClr val="816D56"/>
      </a:dk1>
      <a:lt1>
        <a:srgbClr val="2B5481"/>
      </a:lt1>
      <a:dk2>
        <a:srgbClr val="A7A7A7"/>
      </a:dk2>
      <a:lt2>
        <a:srgbClr val="535353"/>
      </a:lt2>
      <a:accent1>
        <a:srgbClr val="009999"/>
      </a:accent1>
      <a:accent2>
        <a:srgbClr val="3366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xtured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xtur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B5481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B5481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Textured">
  <a:themeElements>
    <a:clrScheme name="Textured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9999"/>
      </a:accent1>
      <a:accent2>
        <a:srgbClr val="3366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xtured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xtur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B5481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2B5481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