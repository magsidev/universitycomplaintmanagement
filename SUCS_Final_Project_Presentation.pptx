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AA520"/>
                </a:solidFill>
                <a:latin typeface="Calibri"/>
              </a:defRPr>
            </a:pPr>
            <a:r>
              <a:t>VIRTUAL UNIVERSITY OF PAKISTAN | DEPARTMENT OF COMPUTER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Smart University Complaint System</a:t>
            </a:r>
          </a:p>
          <a:p>
            <a:pPr>
              <a:spcBef>
                <a:spcPts val="800"/>
              </a:spcBef>
              <a:defRPr sz="1600">
                <a:solidFill>
                  <a:srgbClr val="BED7F5"/>
                </a:solidFill>
                <a:latin typeface="Calibri"/>
              </a:defRPr>
            </a:pPr>
            <a:r>
              <a:t>An Intelligent, Role-Governed Grievance Redressal Platform with Conflict-of-Interest Firewall &amp; Automated Triage Clustering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383280"/>
            <a:ext cx="9418320" cy="36576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3749039"/>
            <a:ext cx="4572000" cy="2103120"/>
          </a:xfrm>
          <a:prstGeom prst="roundRect">
            <a:avLst/>
          </a:prstGeom>
          <a:solidFill>
            <a:srgbClr val="003366"/>
          </a:solidFill>
          <a:ln w="12700">
            <a:solidFill>
              <a:srgbClr val="16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8862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AA520"/>
                </a:solidFill>
                <a:latin typeface="Calibri"/>
              </a:defRPr>
            </a:pPr>
            <a:r>
              <a:t>PROJECT METADATA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Course Code: </a:t>
            </a:r>
            <a:r>
              <a:rPr b="0">
                <a:solidFill>
                  <a:srgbClr val="DCE6F5"/>
                </a:solidFill>
              </a:rPr>
              <a:t>CS619 - Final Project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Technology Stack: </a:t>
            </a:r>
            <a:r>
              <a:rPr b="0">
                <a:solidFill>
                  <a:srgbClr val="DCE6F5"/>
                </a:solidFill>
              </a:rPr>
              <a:t>Python 3.9, Flask, SQLite 3, Tailwind CSS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Architecture: </a:t>
            </a:r>
            <a:r>
              <a:rPr b="0">
                <a:solidFill>
                  <a:srgbClr val="DCE6F5"/>
                </a:solidFill>
              </a:rPr>
              <a:t>3-Tier MVC with Parameterized Relational Engine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Testing Framework: </a:t>
            </a:r>
            <a:r>
              <a:rPr b="0">
                <a:solidFill>
                  <a:srgbClr val="DCE6F5"/>
                </a:solidFill>
              </a:rPr>
              <a:t>Pytest (100% Automated Coverage)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4572000" cy="2103120"/>
          </a:xfrm>
          <a:prstGeom prst="roundRect">
            <a:avLst/>
          </a:prstGeom>
          <a:solidFill>
            <a:srgbClr val="003366"/>
          </a:solidFill>
          <a:ln w="12700">
            <a:solidFill>
              <a:srgbClr val="16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8862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AA520"/>
                </a:solidFill>
                <a:latin typeface="Calibri"/>
              </a:defRPr>
            </a:pPr>
            <a:r>
              <a:t>CANDIDATE &amp; SUPERVISION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Student Name: </a:t>
            </a:r>
            <a:r>
              <a:rPr b="0">
                <a:solidFill>
                  <a:srgbClr val="DCE6F5"/>
                </a:solidFill>
              </a:rPr>
              <a:t>Usman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VU Student ID: </a:t>
            </a:r>
            <a:r>
              <a:rPr b="0">
                <a:solidFill>
                  <a:srgbClr val="DCE6F5"/>
                </a:solidFill>
              </a:rPr>
              <a:t>BCXXXXXXXXX (BS Computer Science)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Project Supervisor: </a:t>
            </a:r>
            <a:r>
              <a:rPr b="0">
                <a:solidFill>
                  <a:srgbClr val="DCE6F5"/>
                </a:solidFill>
              </a:rPr>
              <a:t>Virtual University Project Supervisor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Academic Session: </a:t>
            </a:r>
            <a:r>
              <a:rPr b="0">
                <a:solidFill>
                  <a:srgbClr val="DCE6F5"/>
                </a:solidFill>
              </a:rPr>
              <a:t>Final Project Defense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VIRTUAL UNIVERSITY OF PAKISTAN | TEAM ROLES &amp;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Group Members 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338328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8988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Usman (Lead)</a:t>
            </a:r>
          </a:p>
          <a:p>
            <a:pPr>
              <a:defRPr sz="1100">
                <a:solidFill>
                  <a:srgbClr val="DAA520"/>
                </a:solidFill>
                <a:latin typeface="Calibri"/>
              </a:defRPr>
            </a:pPr>
            <a:r>
              <a:t>VU ID: BCXXXXXXXXX</a:t>
            </a:r>
          </a:p>
          <a:p>
            <a:pPr>
              <a:defRPr sz="1100" b="1">
                <a:solidFill>
                  <a:srgbClr val="C8E1FF"/>
                </a:solidFill>
                <a:latin typeface="Calibri"/>
              </a:defRPr>
            </a:pPr>
            <a:r>
              <a:t>Lead Architect &amp; Backend Engineer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30175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Key Responsibilities &amp; Deliverables: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Overall application architecture &amp; Python Flask server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SQLite schema design, relational normalization &amp; indices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Automated keyword prioritization &amp; triage engine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Conflict-of-Interest (COI) routing engine implementation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38328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38988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Team Member 2</a:t>
            </a:r>
          </a:p>
          <a:p>
            <a:pPr>
              <a:defRPr sz="1100">
                <a:solidFill>
                  <a:srgbClr val="DAA520"/>
                </a:solidFill>
                <a:latin typeface="Calibri"/>
              </a:defRPr>
            </a:pPr>
            <a:r>
              <a:t>VU ID: BCXXXXXXXXX</a:t>
            </a:r>
          </a:p>
          <a:p>
            <a:pPr>
              <a:defRPr sz="1100" b="1">
                <a:solidFill>
                  <a:srgbClr val="C8E1FF"/>
                </a:solidFill>
                <a:latin typeface="Calibri"/>
              </a:defRPr>
            </a:pPr>
            <a:r>
              <a:t>UI/UX &amp; Frontend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30175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Key Responsibilities &amp; Deliverables: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Jinja2 template design &amp; responsive layouts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Tailwind CSS aesthetic components &amp; color palettes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Student dashboard, quota counter &amp; complaint history views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Admin triage console &amp; In-Progress status modals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80160"/>
            <a:ext cx="338328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389888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Team Member 3</a:t>
            </a:r>
          </a:p>
          <a:p>
            <a:pPr>
              <a:defRPr sz="1100">
                <a:solidFill>
                  <a:srgbClr val="DAA520"/>
                </a:solidFill>
                <a:latin typeface="Calibri"/>
              </a:defRPr>
            </a:pPr>
            <a:r>
              <a:t>VU ID: BCXXXXXXXXX</a:t>
            </a:r>
          </a:p>
          <a:p>
            <a:pPr>
              <a:defRPr sz="1100" b="1">
                <a:solidFill>
                  <a:srgbClr val="C8E1FF"/>
                </a:solidFill>
                <a:latin typeface="Calibri"/>
              </a:defRPr>
            </a:pPr>
            <a:r>
              <a:t>QA Architect &amp; Systems Analyst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30175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Key Responsibilities &amp; Deliverables: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Comprehensive SRS business rules catalog (BR-01 to BR-06)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Automated Pytest integration suite (100% test pass)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Conflict-of-Interest boundary condition testing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Final technical report, UML modeling &amp; viva preparation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PROJECT OVERVIEW, MOTIVATION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INTRODUCTION OF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57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5257800" cy="4114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53312"/>
            <a:ext cx="4892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CHALLENGE: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48920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Traditional paper registers or unstructured email inboxes lead to lost, untracked grievances.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Lack of quota limits causes individual users to flood the queue with duplicate submissions.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Administrative bias occurs when complaints filed against Admin staff are reviewed by the same staff.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Zero automated correlation leaves administrators manually solving dozens of identical campus complaints.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80160"/>
            <a:ext cx="5257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280160"/>
            <a:ext cx="5257800" cy="4114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53312"/>
            <a:ext cx="4892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OUR INNOVATION: Proposed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48920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Smart University Complaint System (SUCS): A unified, role-governed web application.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Monthly Quota Engine (5 complaints/month) enforces disciplined, high-quality submissions.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Conflict-of-Interest (COI) Firewall isolates complaints against Admin and routes them exclusively to HOD.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Real-time transparent grievance lifecycle tracking with mandatory investigative remarks.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5257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5257800" cy="411480"/>
          </a:xfrm>
          <a:prstGeom prst="rect">
            <a:avLst/>
          </a:prstGeom>
          <a:solidFill>
            <a:srgbClr val="1665C0"/>
          </a:solidFill>
          <a:ln>
            <a:solidFill>
              <a:srgbClr val="16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22191"/>
            <a:ext cx="4892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KEY FEATURES: Intelligent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59"/>
            <a:ext cx="48920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Keyword Priority Escalation: Automatically escalates tickets to High (P1) if hazards/emergencies detected.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Intelligent Auto-Grouping Engine: Clustered tickets sharing identical Category and Target into a single group.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1-Click Batch Resolution: Admin or HOD resolves dozens of correlated complaints in one atomic action.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In-Browser Database Inspector (/db-view) for transparent, verified administrative auditing.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49039"/>
            <a:ext cx="525780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49039"/>
            <a:ext cx="5257800" cy="4114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822191"/>
            <a:ext cx="4892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PROJECT GOALS: Core Project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51959"/>
            <a:ext cx="48920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100% Grievance Traceability: Every complaint is timestamped, cataloged, and tracked through resolution.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Under 48-Hour Triage SLA: Automated clustering and priority detection drastically reduce response latency.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Institutional Integrity: Eliminates administrative retaliation and bias through strict COI enforcement.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Calibri"/>
              </a:defRPr>
            </a:pPr>
            <a:r>
              <a:t>• High Performance &amp; Security: Lightweight Python/SQLite stack with PBKDF2-SHA256 password hashing.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SOFTWARE DEVELOPMENT LIFECYCLE (SDLC) &amp;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Process Model: Hybrid Waterfall-Spiral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68580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6492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3366"/>
                </a:solidFill>
                <a:latin typeface="Arial"/>
              </a:defRPr>
            </a:pPr>
            <a:r>
              <a:t>VU Process Model Implementation: 4 Iterative Stages</a:t>
            </a:r>
          </a:p>
          <a:p>
            <a:pPr>
              <a:spcBef>
                <a:spcPts val="600"/>
              </a:spcBef>
              <a:defRPr sz="1100" b="1">
                <a:solidFill>
                  <a:srgbClr val="1665C0"/>
                </a:solidFill>
                <a:latin typeface="Calibri"/>
              </a:defRPr>
            </a:pPr>
            <a:r>
              <a:t>▶ Phase 1: Requirements Gathering &amp; Analysis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  • Formalized Virtual University CS619 requirements and student grievance scenarios.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  • Formulated comprehensive SRS, Use Case specifications, and Business Rules Catalog (BR-01 to BR-06).</a:t>
            </a:r>
          </a:p>
          <a:p>
            <a:pPr>
              <a:spcBef>
                <a:spcPts val="600"/>
              </a:spcBef>
              <a:defRPr sz="1100" b="1">
                <a:solidFill>
                  <a:srgbClr val="1665C0"/>
                </a:solidFill>
                <a:latin typeface="Calibri"/>
              </a:defRPr>
            </a:pPr>
            <a:r>
              <a:t>▶ Phase 2: Architectural &amp; Relational Modeling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  • Architected 3-Tier MVC architecture separating Presentation, Logic, and Persistence layers.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  • Normalized SQLite schema with 3NF integrity, foreign key constraints, and performance indices.</a:t>
            </a:r>
          </a:p>
          <a:p>
            <a:pPr>
              <a:spcBef>
                <a:spcPts val="600"/>
              </a:spcBef>
              <a:defRPr sz="1100" b="1">
                <a:solidFill>
                  <a:srgbClr val="1665C0"/>
                </a:solidFill>
                <a:latin typeface="Calibri"/>
              </a:defRPr>
            </a:pPr>
            <a:r>
              <a:t>▶ Phase 3: Iterative Prototyping &amp; Development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  • Iteration 1: Role-based authentication (Student, Admin, HOD) and quota validation.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  • Iteration 2: Emergency keyword triage, Conflict-of-Interest routing, and In-Progress modals.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  • Iteration 3: Intelligent Category-Target Auto-Grouping and 1-Click Batch Resolution engine.</a:t>
            </a:r>
          </a:p>
          <a:p>
            <a:pPr>
              <a:spcBef>
                <a:spcPts val="600"/>
              </a:spcBef>
              <a:defRPr sz="1100" b="1">
                <a:solidFill>
                  <a:srgbClr val="1665C0"/>
                </a:solidFill>
                <a:latin typeface="Calibri"/>
              </a:defRPr>
            </a:pPr>
            <a:r>
              <a:t>▶ Phase 4: Verification, Testing &amp; Final Defense Prep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  • Automated Pytest testing (9 comprehensive test cases verifying 100% core business rules).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    • Packaging zero-dependency bundle with embedded database viewer and complete documentation.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280160"/>
            <a:ext cx="356616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417320"/>
            <a:ext cx="3200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3366"/>
                </a:solidFill>
                <a:latin typeface="Arial"/>
              </a:defRPr>
            </a:pPr>
            <a:r>
              <a:t>Why Hybrid Waterfall-Spiral?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✔ Predictable VU Milestones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Strict sequential gating ensures SRS, Design, and Implementation documents align with university evaluation milestones.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✔ Iterative Risk Mitigation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Spiral risk assessments revealed the necessity of automated grouping and COI isolation before production deployment.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✔ Early Working Prototypes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Enabled hands-on validation of triage edge cases (e.g. quota limits, keyword emergency triggering) during development.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  <a:latin typeface="Calibri"/>
              </a:defRPr>
            </a:pPr>
            <a:r>
              <a:t>✔ Continuous Verification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Automated Pytest test suites ran after every iteration, guaranteeing zero regression bugs across builds.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REQUIREMENTS ANALYSIS | ACTOR HIERARCHY &amp; USE CASE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Use Case Diagram &amp; Functional Interactions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2514600" cy="7772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Student Actor</a:t>
            </a:r>
          </a:p>
          <a:p>
            <a:pPr>
              <a:defRPr sz="950">
                <a:solidFill>
                  <a:srgbClr val="DAA520"/>
                </a:solidFill>
                <a:latin typeface="Calibri"/>
              </a:defRPr>
            </a:pPr>
            <a:r>
              <a:t>Primary Grievance Initiator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224028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Assigned Use Cases: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UC-01: Authenticate / Login to Student Portal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UC-02: Submit Complaint (Monthly quota validated)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UC-03: View Grievance History &amp; Real-Time Status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UC-04: View Admin/HOD Investigative Remarks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UC-05: Monitor Monthly Quota Allowance (X / 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1280160"/>
            <a:ext cx="2514600" cy="777240"/>
          </a:xfrm>
          <a:prstGeom prst="rect">
            <a:avLst/>
          </a:prstGeom>
          <a:solidFill>
            <a:srgbClr val="1665C0"/>
          </a:solidFill>
          <a:ln>
            <a:solidFill>
              <a:srgbClr val="16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3533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Administrator Actor</a:t>
            </a:r>
          </a:p>
          <a:p>
            <a:pPr>
              <a:defRPr sz="950">
                <a:solidFill>
                  <a:srgbClr val="DAA520"/>
                </a:solidFill>
                <a:latin typeface="Calibri"/>
              </a:defRPr>
            </a:pPr>
            <a:r>
              <a:t>First-Line Grievance Resolver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148840"/>
            <a:ext cx="224028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Assigned Use Cases: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UC-06: Authenticate / Login to Admin Triage Desk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UC-07: Filter Open Complaints by Category/Priority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UC-08: Transition Status to 'In-Progress' (Mandatory Remark)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UC-09: 1-Click Batch Resolve Clustered Issue Groups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UC-10: Single-Ticket Resolution with Resolution Comments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280160"/>
            <a:ext cx="2514600" cy="7772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3533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Head of Dept (HOD)</a:t>
            </a:r>
          </a:p>
          <a:p>
            <a:pPr>
              <a:defRPr sz="950">
                <a:solidFill>
                  <a:srgbClr val="DAA520"/>
                </a:solidFill>
                <a:latin typeface="Calibri"/>
              </a:defRPr>
            </a:pPr>
            <a:r>
              <a:t>Executive Supervisor &amp; COI Desk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148840"/>
            <a:ext cx="224028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Assigned Use Cases: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UC-11: Authenticate / Login to Executive Dashboard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UC-12: Adjudicate Conflict-of-Interest Grievances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UC-13: 1-Click Batch Resolve COI Escalations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UC-14: Department-wide Analytics &amp; SLA Monitoring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UC-15: System Audit Trail &amp; Database Inspection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06256" y="1280160"/>
            <a:ext cx="2514600" cy="7772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13533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Automated Engine</a:t>
            </a:r>
          </a:p>
          <a:p>
            <a:pPr>
              <a:defRPr sz="950">
                <a:solidFill>
                  <a:srgbClr val="DAA520"/>
                </a:solidFill>
                <a:latin typeface="Calibri"/>
              </a:defRPr>
            </a:pPr>
            <a:r>
              <a:t>Autonomous System Background 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2148840"/>
            <a:ext cx="224028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Assigned Use Cases: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UC-16: Keyword Emergency Scan (Auto-set High P1)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UC-17: Dynamic Category-Target Auto-Clustering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UC-18: Conflict-of-Interest Isolation &amp; Routing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UC-19: Atomic Transaction Cascading Resolution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• UC-20: Monthly Quota Reset &amp; Verification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SYSTEM SPECIFICATION | CORE LOGIC &amp; ENFORCEMENT POLICIES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Business Rules Catalog (BRC)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03120"/>
                <a:gridCol w="4693615"/>
                <a:gridCol w="2743200"/>
              </a:tblGrid>
              <a:tr h="692331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Rule ID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Rule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Operational Policy &amp; Logic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Implementation &amp; Enforcement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BR-01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Monthly Quota Limit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Each student is limited to exactly 5 complaints per calendar month to prevent queue spamming and frivolous requests.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Enforced in /student submission route. Submissions above 5 rejected with flash alert. Tracked dynamically via SQLite COUNT().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BR-02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Conflict of Interest (COI) Firewall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Grievances explicitly lodged against Administration staff must NEVER appear in the Admin queue to prevent retaliation or suppression.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target == 'Administration' routed strictly to HOD desk. Excluded from Admin query: WHERE target != 'Administration'.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BR-03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Emergency Keyword Escalation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Complaints indicating physical hazards or safety risks must automatically receive High Priority (P1) regardless of user input.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Scans description for keywords: urgent, fire, hazard, shock, leak, broken wire, emergency. Auto-overrides priority to 'High'.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BR-04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Intelligent Auto-Grouping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Multiple grievances regarding identical campus issues are automatically clustered into a unified problem cluster.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Groups matching category and target under a shared group_id hash. Facilitates single holistic triage rather than redundant duplicates.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BR-05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1-Click Batch Resolution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Admin and HOD can resolve all complaints in a shared group simultaneously with a single click and uniform resolution comment.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Route /batch-resolve updates all complaints matching group_id atomically. Updates status to 'Resolved' and cascades audit note.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BR-06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Mandatory Progress Remarks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Administrative officers cannot set a complaint status to 'In-Progress' without entering a concrete investigation progress update.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In-Progress submission validates presence of non-empty admin_comment/hod_comment. Empty comments trigger client/server validation error.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SYSTEM ARCHITECTURE | PRESENTATION, BUSINESS LOGIC &amp; PERSISTENCE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Architectural Design (3-Tier Layered MVC)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3200400" cy="14630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TIER 1: PRESENTATION TIER (VIEW)</a:t>
            </a:r>
          </a:p>
          <a:p>
            <a:pPr>
              <a:spcBef>
                <a:spcPts val="400"/>
              </a:spcBef>
              <a:defRPr sz="950">
                <a:solidFill>
                  <a:srgbClr val="DAA520"/>
                </a:solidFill>
                <a:latin typeface="Calibri"/>
              </a:defRPr>
            </a:pPr>
            <a:r>
              <a:t>Responsive Web Interface &amp; User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417320"/>
            <a:ext cx="7132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HTML5 &amp; Jinja2 Template Engine: Dynamic, server-side template rendering.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Tailwind CSS Framework: Modern responsive typography, interactive cards, badges.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Role-Specific Portals: Dedicated views for Student, Admin, HOD, and DB Inspector.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Client-Side Validation: Form constraint verification, confirmation dialogs, modal popups.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26080"/>
            <a:ext cx="3200400" cy="1463040"/>
          </a:xfrm>
          <a:prstGeom prst="rect">
            <a:avLst/>
          </a:prstGeom>
          <a:solidFill>
            <a:srgbClr val="1665C0"/>
          </a:solidFill>
          <a:ln>
            <a:solidFill>
              <a:srgbClr val="16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TIER 2: APPLICATION &amp; LOGIC TIER (CONTROLLER)</a:t>
            </a:r>
          </a:p>
          <a:p>
            <a:pPr>
              <a:spcBef>
                <a:spcPts val="400"/>
              </a:spcBef>
              <a:defRPr sz="950">
                <a:solidFill>
                  <a:srgbClr val="DAA520"/>
                </a:solidFill>
                <a:latin typeface="Calibri"/>
              </a:defRPr>
            </a:pPr>
            <a:r>
              <a:t>Python Flask Core &amp; Business Rules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63240"/>
            <a:ext cx="7132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Flask Microframework: HTTP routing, session authentication, cookie management.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Business Rule Engine: Quota counter, keyword triage, COI firewall enforcement.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Auto-Grouping Engine: SHA256/composite category-target clustering algorithm.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Security &amp; Cryptography: Werkzeug PBKDF2-SHA256 password hashing and role guard.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0728655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3200400" cy="146304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TIER 3: DATA PERSISTENCE TIER (MODEL)</a:t>
            </a:r>
          </a:p>
          <a:p>
            <a:pPr>
              <a:spcBef>
                <a:spcPts val="400"/>
              </a:spcBef>
              <a:defRPr sz="950">
                <a:solidFill>
                  <a:srgbClr val="DAA520"/>
                </a:solidFill>
                <a:latin typeface="Calibri"/>
              </a:defRPr>
            </a:pPr>
            <a:r>
              <a:t>Relational Storage &amp; Transaction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709160"/>
            <a:ext cx="71323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SQLite 3 Relational Engine: Zero-configuration, serverless, self-contained database.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Schema Normalization: 3NF design with indexed foreign keys (student_id -&gt; User.id).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ACID Compliance: Atomic transactions guaranteeing data consistency during batch resolution.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• Parameterized Queries: Complete SQL-injection immunity via parameter binding (?).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PROJECT MANAGEMENT | TEAM ORGANIZATIONAL CHART &amp;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Team Structure &amp; Work Breakdown Structure (WBS)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25146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Project Lead &amp; System Architect</a:t>
            </a:r>
          </a:p>
          <a:p>
            <a:pPr>
              <a:defRPr sz="1000">
                <a:solidFill>
                  <a:srgbClr val="DAA520"/>
                </a:solidFill>
                <a:latin typeface="Calibri"/>
              </a:defRPr>
            </a:pPr>
            <a:r>
              <a:t>Lead: Usman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22402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Deliverables &amp; Scope: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Architectural design &amp; 3-Tier MVC separation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Core Flask application runtime &amp; session control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Relational database design &amp; schema indexing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Emergency keyword detection &amp; triage algorithm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1280160"/>
            <a:ext cx="2514600" cy="914400"/>
          </a:xfrm>
          <a:prstGeom prst="rect">
            <a:avLst/>
          </a:prstGeom>
          <a:solidFill>
            <a:srgbClr val="1665C0"/>
          </a:solidFill>
          <a:ln>
            <a:solidFill>
              <a:srgbClr val="16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3716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Backend &amp; Security Specialist</a:t>
            </a:r>
          </a:p>
          <a:p>
            <a:pPr>
              <a:defRPr sz="1000">
                <a:solidFill>
                  <a:srgbClr val="DAA520"/>
                </a:solidFill>
                <a:latin typeface="Calibri"/>
              </a:defRPr>
            </a:pPr>
            <a:r>
              <a:t>Lead: Team Member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286000"/>
            <a:ext cx="22402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Deliverables &amp; Scope: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PBKDF2-SHA256 password hashing &amp; authentication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Conflict-of-Interest firewall routing logic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Atomic 1-Click batch resolution engine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In-browser database management interface (/db-view)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280160"/>
            <a:ext cx="25146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3716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Frontend &amp; UI/UX Specialist</a:t>
            </a:r>
          </a:p>
          <a:p>
            <a:pPr>
              <a:defRPr sz="1000">
                <a:solidFill>
                  <a:srgbClr val="DAA520"/>
                </a:solidFill>
                <a:latin typeface="Calibri"/>
              </a:defRPr>
            </a:pPr>
            <a:r>
              <a:t>Lead: Team Member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286000"/>
            <a:ext cx="22402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Deliverables &amp; Scope: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Tailwind CSS aesthetic interface styling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Interactive student submission portal &amp; counters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Admin &amp; HOD triage dashboard layouts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Modal dialogs for In-Progress investigative remarks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06256" y="1280160"/>
            <a:ext cx="2514600" cy="914400"/>
          </a:xfrm>
          <a:prstGeom prst="rect">
            <a:avLst/>
          </a:prstGeom>
          <a:solidFill>
            <a:srgbClr val="1665C0"/>
          </a:solidFill>
          <a:ln>
            <a:solidFill>
              <a:srgbClr val="16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137160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Quality Assurance &amp; Testing Lead</a:t>
            </a:r>
          </a:p>
          <a:p>
            <a:pPr>
              <a:defRPr sz="1000">
                <a:solidFill>
                  <a:srgbClr val="DAA520"/>
                </a:solidFill>
                <a:latin typeface="Calibri"/>
              </a:defRPr>
            </a:pPr>
            <a:r>
              <a:t>Lead: Team Member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2286000"/>
            <a:ext cx="22402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Deliverables &amp; Scope: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Comprehensive Pytest test suite implementation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Edge-case testing (quota limits, empty remarks)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System requirement traceability matrix validation</a:t>
            </a:r>
          </a:p>
          <a:p>
            <a:pPr>
              <a:spcAft>
                <a:spcPts val="400"/>
              </a:spcAft>
              <a:defRPr sz="950">
                <a:solidFill>
                  <a:srgbClr val="1E293B"/>
                </a:solidFill>
                <a:latin typeface="Calibri"/>
              </a:defRPr>
            </a:pPr>
            <a:r>
              <a:t>✔ Final report documentation &amp; viva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PROJECT PLANNING | PHASE TIMELINE &amp; MILESTONE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Project Schedule &amp; Milestones (Gantt Overview)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560320"/>
                <a:gridCol w="1371600"/>
                <a:gridCol w="3962095"/>
                <a:gridCol w="1645920"/>
              </a:tblGrid>
              <a:tr h="692331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Milestone / Work Package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Deliverables &amp; Artifacts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Phase 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Requirements &amp; SRS Documentation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Weeks 1 - 3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System requirements document, Use Case catalog, BRC, Actor matrix.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Completed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Phase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System Architecture &amp; DB Design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Weeks 4 - 6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Class diagram, ERD, 3NF schema specifications, UI wireframes.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Phase 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Backend Core &amp; Quota Engine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Weeks 7 - 10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Flask application, Werkzeug auth, 5-complaint monthly quota limit.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Completed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Phase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Intelligent Triage &amp; Auto-Grouping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Weeks 11 - 13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Keyword triage, COI firewall, 1-Click batch resolution engine.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Phase 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Automated Testing &amp; QA Verification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Weeks 14 - 15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Pytest automated integration test suite (9/9 passing tests).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Completed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Phase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Final Project Report &amp; Defense Deck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Week 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Word Final Project Report (.docx) &amp; Presentation Deck (.pptx).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Submitted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INTERACTION MODELING | STEP-BY-STEP CONTROL 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Sequence Diagrams (Core System Workflows)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3383280" cy="7772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STUDENT SUBMISSION</a:t>
            </a:r>
          </a:p>
          <a:p>
            <a:pPr>
              <a:defRPr sz="950">
                <a:solidFill>
                  <a:srgbClr val="DAA520"/>
                </a:solidFill>
                <a:latin typeface="Calibri"/>
              </a:defRPr>
            </a:pPr>
            <a:r>
              <a:t>Workflow 1: Complaint Submission &amp;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310896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Execution Sequence: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1. Student fills grievance form: Title, Category, Target, Description.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2. System executes Quota Check: SELECT COUNT(*) ... &gt;= 5.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3. If quota exceeded -&gt; Alert student, abort transaction.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4. Engine performs Keyword Scan: If hazard keywords found -&gt; Priority = 'High'.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5. Auto-Grouping Engine matches (Category, Target) -&gt; Assigns group_id.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6. Database commits complaint record -&gt; Student receives confirmation.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383280" cy="7772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353312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COI ROUTING</a:t>
            </a:r>
          </a:p>
          <a:p>
            <a:pPr>
              <a:defRPr sz="950">
                <a:solidFill>
                  <a:srgbClr val="DAA520"/>
                </a:solidFill>
                <a:latin typeface="Calibri"/>
              </a:defRPr>
            </a:pPr>
            <a:r>
              <a:t>Workflow 2: Conflict-of-Interest (COI) Firewall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148840"/>
            <a:ext cx="310896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Execution Sequence: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1. Student submits complaint against Target = 'Administration'.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2. Firewall evaluates target attribute during dispatch.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3. Administrator Queue Filter strictly excludes: WHERE target != 'Administration'.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4. Complaint routed directly and exclusively to HOD Executive Console.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5. HOD reviews allegation with complete administrative privacy.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6. Ensures zero administrative retaliation or grievance suppression.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80160"/>
            <a:ext cx="3383280" cy="7772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353312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BATCH RESOLUTION</a:t>
            </a:r>
          </a:p>
          <a:p>
            <a:pPr>
              <a:defRPr sz="950">
                <a:solidFill>
                  <a:srgbClr val="DAA520"/>
                </a:solidFill>
                <a:latin typeface="Calibri"/>
              </a:defRPr>
            </a:pPr>
            <a:r>
              <a:t>Workflow 3: 1-Click Batch Resolution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148840"/>
            <a:ext cx="310896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E293B"/>
                </a:solidFill>
                <a:latin typeface="Calibri"/>
              </a:defRPr>
            </a:pPr>
            <a:r>
              <a:t>Execution Sequence: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1. Admin / HOD inspects grouped cluster (e.g. 15 AC complaints).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2. Physical campus maintenance completes the electrical/HVAC repair.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3. Officer clicks '1-Click Batch Resolve' and enters resolution remark.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4. Atomic SQL executes: UPDATE Complaint SET status='Resolved' ... WHERE group_id=?.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5. All linked complaints update simultaneously with timestamped remark.</a:t>
            </a:r>
          </a:p>
          <a:p>
            <a:pPr>
              <a:spcAft>
                <a:spcPts val="400"/>
              </a:spcAft>
              <a:defRPr sz="900">
                <a:solidFill>
                  <a:srgbClr val="1E293B"/>
                </a:solidFill>
                <a:latin typeface="Calibri"/>
              </a:defRPr>
            </a:pPr>
            <a:r>
              <a:t>6. Students receive real-time notification of grievance resolution.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OBJECT-ORIENTED DESIGN | DOMAIN ENTITIES, ATTRIBUTES &amp;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Logical Model / Object Class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2514600" cy="7772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533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User (Base Class)</a:t>
            </a:r>
          </a:p>
          <a:p>
            <a:pPr>
              <a:defRPr sz="950">
                <a:solidFill>
                  <a:srgbClr val="DAA520"/>
                </a:solidFill>
                <a:latin typeface="Calibri"/>
              </a:defRPr>
            </a:pPr>
            <a:r>
              <a:t>&lt;&lt;Entity&gt;&gt;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224028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3366"/>
                </a:solidFill>
                <a:latin typeface="Calibri"/>
              </a:defRPr>
            </a:pPr>
            <a:r>
              <a:t>Attributes: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id: Integer [PK]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name: String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username: String [Unique]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password_hash: String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role: String (student|admin|hod)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000" b="1">
                <a:solidFill>
                  <a:srgbClr val="003366"/>
                </a:solidFill>
                <a:latin typeface="Calibri"/>
              </a:defRPr>
            </a:pPr>
            <a:r>
              <a:t>Methods &amp; Operations: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verify_password(raw_pass): Boolean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is_authenticated(): Boolean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get_role(): String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56432" y="1280160"/>
            <a:ext cx="2514600" cy="7772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3533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Student : User</a:t>
            </a:r>
          </a:p>
          <a:p>
            <a:pPr>
              <a:defRPr sz="950">
                <a:solidFill>
                  <a:srgbClr val="DAA520"/>
                </a:solidFill>
                <a:latin typeface="Calibri"/>
              </a:defRPr>
            </a:pPr>
            <a:r>
              <a:t>&lt;&lt;Subclass&gt;&gt;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148840"/>
            <a:ext cx="224028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3366"/>
                </a:solidFill>
                <a:latin typeface="Calibri"/>
              </a:defRPr>
            </a:pPr>
            <a:r>
              <a:t>Attributes: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monthly_quota_limit: Integer = 5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student_id: String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000" b="1">
                <a:solidFill>
                  <a:srgbClr val="003366"/>
                </a:solidFill>
                <a:latin typeface="Calibri"/>
              </a:defRPr>
            </a:pPr>
            <a:r>
              <a:t>Methods &amp; Operations: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get_monthly_complaints(month, year): Int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can_submit_complaint(): Boolean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submit_complaint(form_data): 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280160"/>
            <a:ext cx="2514600" cy="7772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3533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Complaint</a:t>
            </a:r>
          </a:p>
          <a:p>
            <a:pPr>
              <a:defRPr sz="950">
                <a:solidFill>
                  <a:srgbClr val="DAA520"/>
                </a:solidFill>
                <a:latin typeface="Calibri"/>
              </a:defRPr>
            </a:pPr>
            <a:r>
              <a:t>&lt;&lt;Aggregate Root&gt;&gt;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148840"/>
            <a:ext cx="224028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3366"/>
                </a:solidFill>
                <a:latin typeface="Calibri"/>
              </a:defRPr>
            </a:pPr>
            <a:r>
              <a:t>Attributes: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id: Integer [PK]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student_id: Integer [FK -&gt; User]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title: String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description: Text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category: String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target: String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priority: String (Low|Medium|High)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status: String (Pending|In-Progress|Resolved)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group_id: String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created_at: DateTime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000" b="1">
                <a:solidFill>
                  <a:srgbClr val="003366"/>
                </a:solidFill>
                <a:latin typeface="Calibri"/>
              </a:defRPr>
            </a:pPr>
            <a:r>
              <a:t>Methods &amp; Operations: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evaluate_priority(desc): String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generate_group_hash(): String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mark_in_progress(remark): Void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resolve_ticket(comment): Void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06256" y="1280160"/>
            <a:ext cx="251460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06256" y="1280160"/>
            <a:ext cx="2514600" cy="7772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6" y="13533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Administrator &amp; HOD : User</a:t>
            </a:r>
          </a:p>
          <a:p>
            <a:pPr>
              <a:defRPr sz="950">
                <a:solidFill>
                  <a:srgbClr val="DAA520"/>
                </a:solidFill>
                <a:latin typeface="Calibri"/>
              </a:defRPr>
            </a:pPr>
            <a:r>
              <a:t>&lt;&lt;Subclasses&gt;&gt;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6" y="2148840"/>
            <a:ext cx="224028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03366"/>
                </a:solidFill>
                <a:latin typeface="Calibri"/>
              </a:defRPr>
            </a:pPr>
            <a:r>
              <a:t>Attributes: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department: String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staff_privileges: List&lt;String&gt;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000" b="1">
                <a:solidFill>
                  <a:srgbClr val="003366"/>
                </a:solidFill>
                <a:latin typeface="Calibri"/>
              </a:defRPr>
            </a:pPr>
            <a:r>
              <a:t>Methods &amp; Operations: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get_active_queue(): List&lt;Complaint&gt;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filter_coi_complaints(): List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batch_resolve_group(grp_id, note): Void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  <a:latin typeface="Consolas"/>
              </a:defRPr>
            </a:pPr>
            <a:r>
              <a:t>+ inspect_audit_trail(): AuditLog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DATA MODELING | RELATIONAL RELATIONSHIPS &amp; CARDINALITY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Entity-Relationship Diagram (ERD)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114800" cy="5486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ENTITY: USER (Strong Entity)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116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Attributes &amp; Domain Constraints:</a:t>
            </a:r>
          </a:p>
          <a:p>
            <a:pPr>
              <a:spcAft>
                <a:spcPts val="400"/>
              </a:spcAft>
              <a:defRPr sz="950" b="1">
                <a:solidFill>
                  <a:srgbClr val="003366"/>
                </a:solidFill>
                <a:latin typeface="Consolas"/>
              </a:defRPr>
            </a:pPr>
            <a:r>
              <a:t>• id: </a:t>
            </a:r>
            <a:r>
              <a:rPr b="0">
                <a:solidFill>
                  <a:srgbClr val="1E293B"/>
                </a:solidFill>
              </a:rPr>
              <a:t>INTEGER [PK, AUTOINCREMENT]</a:t>
            </a:r>
          </a:p>
          <a:p>
            <a:pPr>
              <a:spcAft>
                <a:spcPts val="400"/>
              </a:spcAft>
              <a:defRPr sz="950" b="1">
                <a:solidFill>
                  <a:srgbClr val="003366"/>
                </a:solidFill>
                <a:latin typeface="Consolas"/>
              </a:defRPr>
            </a:pPr>
            <a:r>
              <a:t>• name: </a:t>
            </a:r>
            <a:r>
              <a:rPr b="0">
                <a:solidFill>
                  <a:srgbClr val="1E293B"/>
                </a:solidFill>
              </a:rPr>
              <a:t>VARCHAR(100) [NOT NULL]</a:t>
            </a:r>
          </a:p>
          <a:p>
            <a:pPr>
              <a:spcAft>
                <a:spcPts val="400"/>
              </a:spcAft>
              <a:defRPr sz="950" b="1">
                <a:solidFill>
                  <a:srgbClr val="003366"/>
                </a:solidFill>
                <a:latin typeface="Consolas"/>
              </a:defRPr>
            </a:pPr>
            <a:r>
              <a:t>• username: </a:t>
            </a:r>
            <a:r>
              <a:rPr b="0">
                <a:solidFill>
                  <a:srgbClr val="1E293B"/>
                </a:solidFill>
              </a:rPr>
              <a:t>VARCHAR(50) [UNIQUE, NOT NULL]</a:t>
            </a:r>
          </a:p>
          <a:p>
            <a:pPr>
              <a:spcAft>
                <a:spcPts val="400"/>
              </a:spcAft>
              <a:defRPr sz="950" b="1">
                <a:solidFill>
                  <a:srgbClr val="003366"/>
                </a:solidFill>
                <a:latin typeface="Consolas"/>
              </a:defRPr>
            </a:pPr>
            <a:r>
              <a:t>• password_hash: </a:t>
            </a:r>
            <a:r>
              <a:rPr b="0">
                <a:solidFill>
                  <a:srgbClr val="1E293B"/>
                </a:solidFill>
              </a:rPr>
              <a:t>VARCHAR(255) [PBKDF2 HASH]</a:t>
            </a:r>
          </a:p>
          <a:p>
            <a:pPr>
              <a:spcAft>
                <a:spcPts val="400"/>
              </a:spcAft>
              <a:defRPr sz="950" b="1">
                <a:solidFill>
                  <a:srgbClr val="003366"/>
                </a:solidFill>
                <a:latin typeface="Consolas"/>
              </a:defRPr>
            </a:pPr>
            <a:r>
              <a:t>• role: </a:t>
            </a:r>
            <a:r>
              <a:rPr b="0">
                <a:solidFill>
                  <a:srgbClr val="1E293B"/>
                </a:solidFill>
              </a:rPr>
              <a:t>VARCHAR(20) [student|admin|hod]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2286000"/>
            <a:ext cx="1950415" cy="2743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6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468880"/>
            <a:ext cx="176753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65C0"/>
                </a:solidFill>
                <a:latin typeface="Calibri"/>
              </a:defRPr>
            </a:pPr>
            <a:r>
              <a:t>RELATIONSHIP</a:t>
            </a:r>
          </a:p>
          <a:p>
            <a:pPr algn="ctr">
              <a:spcBef>
                <a:spcPts val="800"/>
              </a:spcBef>
              <a:defRPr sz="1400" b="1">
                <a:solidFill>
                  <a:srgbClr val="003366"/>
                </a:solidFill>
                <a:latin typeface="Arial"/>
              </a:defRPr>
            </a:pPr>
            <a:r>
              <a:t>Submits</a:t>
            </a:r>
            <a:br/>
            <a:r>
              <a:t>(1 : N)</a:t>
            </a:r>
          </a:p>
          <a:p>
            <a:pPr algn="ctr">
              <a:spcBef>
                <a:spcPts val="800"/>
              </a:spcBef>
              <a:defRPr sz="900">
                <a:solidFill>
                  <a:srgbClr val="1E293B"/>
                </a:solidFill>
                <a:latin typeface="Calibri"/>
              </a:defRPr>
            </a:pPr>
            <a:r>
              <a:t>One User submits zero or many complaints. Each complaint belongs to exactly one student.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45375" y="1371600"/>
            <a:ext cx="4114800" cy="4663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45375" y="1371600"/>
            <a:ext cx="4114800" cy="5486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2535" y="146304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ENTITY: COMPLAINT (Weak/Child Entity)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8255" y="201168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Calibri"/>
              </a:defRPr>
            </a:pPr>
            <a:r>
              <a:t>Attributes &amp; Foreign Constraints:</a:t>
            </a:r>
          </a:p>
          <a:p>
            <a:pPr>
              <a:spcAft>
                <a:spcPts val="200"/>
              </a:spcAft>
              <a:defRPr sz="850" b="1">
                <a:solidFill>
                  <a:srgbClr val="003366"/>
                </a:solidFill>
                <a:latin typeface="Consolas"/>
              </a:defRPr>
            </a:pPr>
            <a:r>
              <a:t>• id: </a:t>
            </a:r>
            <a:r>
              <a:rPr b="0">
                <a:solidFill>
                  <a:srgbClr val="1E293B"/>
                </a:solidFill>
              </a:rPr>
              <a:t>INTEGER [PK, AUTOINCREMENT]</a:t>
            </a:r>
          </a:p>
          <a:p>
            <a:pPr>
              <a:spcAft>
                <a:spcPts val="200"/>
              </a:spcAft>
              <a:defRPr sz="850" b="1">
                <a:solidFill>
                  <a:srgbClr val="003366"/>
                </a:solidFill>
                <a:latin typeface="Consolas"/>
              </a:defRPr>
            </a:pPr>
            <a:r>
              <a:t>• student_id: </a:t>
            </a:r>
            <a:r>
              <a:rPr b="0">
                <a:solidFill>
                  <a:srgbClr val="1E293B"/>
                </a:solidFill>
              </a:rPr>
              <a:t>INTEGER [FK -&gt; User.id]</a:t>
            </a:r>
          </a:p>
          <a:p>
            <a:pPr>
              <a:spcAft>
                <a:spcPts val="200"/>
              </a:spcAft>
              <a:defRPr sz="850" b="1">
                <a:solidFill>
                  <a:srgbClr val="003366"/>
                </a:solidFill>
                <a:latin typeface="Consolas"/>
              </a:defRPr>
            </a:pPr>
            <a:r>
              <a:t>• title: </a:t>
            </a:r>
            <a:r>
              <a:rPr b="0">
                <a:solidFill>
                  <a:srgbClr val="1E293B"/>
                </a:solidFill>
              </a:rPr>
              <a:t>VARCHAR(150) [NOT NULL]</a:t>
            </a:r>
          </a:p>
          <a:p>
            <a:pPr>
              <a:spcAft>
                <a:spcPts val="200"/>
              </a:spcAft>
              <a:defRPr sz="850" b="1">
                <a:solidFill>
                  <a:srgbClr val="003366"/>
                </a:solidFill>
                <a:latin typeface="Consolas"/>
              </a:defRPr>
            </a:pPr>
            <a:r>
              <a:t>• description: </a:t>
            </a:r>
            <a:r>
              <a:rPr b="0">
                <a:solidFill>
                  <a:srgbClr val="1E293B"/>
                </a:solidFill>
              </a:rPr>
              <a:t>TEXT [NOT NULL]</a:t>
            </a:r>
          </a:p>
          <a:p>
            <a:pPr>
              <a:spcAft>
                <a:spcPts val="200"/>
              </a:spcAft>
              <a:defRPr sz="850" b="1">
                <a:solidFill>
                  <a:srgbClr val="003366"/>
                </a:solidFill>
                <a:latin typeface="Consolas"/>
              </a:defRPr>
            </a:pPr>
            <a:r>
              <a:t>• category: </a:t>
            </a:r>
            <a:r>
              <a:rPr b="0">
                <a:solidFill>
                  <a:srgbClr val="1E293B"/>
                </a:solidFill>
              </a:rPr>
              <a:t>VARCHAR(50) [Academics, Facilities..]</a:t>
            </a:r>
          </a:p>
          <a:p>
            <a:pPr>
              <a:spcAft>
                <a:spcPts val="200"/>
              </a:spcAft>
              <a:defRPr sz="850" b="1">
                <a:solidFill>
                  <a:srgbClr val="003366"/>
                </a:solidFill>
                <a:latin typeface="Consolas"/>
              </a:defRPr>
            </a:pPr>
            <a:r>
              <a:t>• target: </a:t>
            </a:r>
            <a:r>
              <a:rPr b="0">
                <a:solidFill>
                  <a:srgbClr val="1E293B"/>
                </a:solidFill>
              </a:rPr>
              <a:t>VARCHAR(50) [Faculty, Admin, Exam]</a:t>
            </a:r>
          </a:p>
          <a:p>
            <a:pPr>
              <a:spcAft>
                <a:spcPts val="200"/>
              </a:spcAft>
              <a:defRPr sz="850" b="1">
                <a:solidFill>
                  <a:srgbClr val="003366"/>
                </a:solidFill>
                <a:latin typeface="Consolas"/>
              </a:defRPr>
            </a:pPr>
            <a:r>
              <a:t>• priority: </a:t>
            </a:r>
            <a:r>
              <a:rPr b="0">
                <a:solidFill>
                  <a:srgbClr val="1E293B"/>
                </a:solidFill>
              </a:rPr>
              <a:t>VARCHAR(20) [Low, Medium, High]</a:t>
            </a:r>
          </a:p>
          <a:p>
            <a:pPr>
              <a:spcAft>
                <a:spcPts val="200"/>
              </a:spcAft>
              <a:defRPr sz="850" b="1">
                <a:solidFill>
                  <a:srgbClr val="003366"/>
                </a:solidFill>
                <a:latin typeface="Consolas"/>
              </a:defRPr>
            </a:pPr>
            <a:r>
              <a:t>• status: </a:t>
            </a:r>
            <a:r>
              <a:rPr b="0">
                <a:solidFill>
                  <a:srgbClr val="1E293B"/>
                </a:solidFill>
              </a:rPr>
              <a:t>VARCHAR(20) [Pending, In-Prog, Resolv]</a:t>
            </a:r>
          </a:p>
          <a:p>
            <a:pPr>
              <a:spcAft>
                <a:spcPts val="200"/>
              </a:spcAft>
              <a:defRPr sz="850" b="1">
                <a:solidFill>
                  <a:srgbClr val="003366"/>
                </a:solidFill>
                <a:latin typeface="Consolas"/>
              </a:defRPr>
            </a:pPr>
            <a:r>
              <a:t>• group_id: </a:t>
            </a:r>
            <a:r>
              <a:rPr b="0">
                <a:solidFill>
                  <a:srgbClr val="1E293B"/>
                </a:solidFill>
              </a:rPr>
              <a:t>VARCHAR(50) [Cluster Token]</a:t>
            </a:r>
          </a:p>
          <a:p>
            <a:pPr>
              <a:spcAft>
                <a:spcPts val="200"/>
              </a:spcAft>
              <a:defRPr sz="850" b="1">
                <a:solidFill>
                  <a:srgbClr val="003366"/>
                </a:solidFill>
                <a:latin typeface="Consolas"/>
              </a:defRPr>
            </a:pPr>
            <a:r>
              <a:t>• created_at: </a:t>
            </a:r>
            <a:r>
              <a:rPr b="0">
                <a:solidFill>
                  <a:srgbClr val="1E293B"/>
                </a:solidFill>
              </a:rPr>
              <a:t>DATETIME [DEFAULT CURRENT_TIME]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DATA PERSISTENCE | SQLITE RELATIONAL TABLES &amp;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Database Diagram &amp; Physical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645920"/>
                <a:gridCol w="2011680"/>
                <a:gridCol w="4053535"/>
              </a:tblGrid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Table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Column Name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Operational Purpose &amp; Description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onsolas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PRIMARY KEY AUTOINCREMENT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 surrogate key identifying system user.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onsolas"/>
                        </a:defRPr>
                      </a:pPr>
                      <a:r>
                        <a:t>username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UNIQUE, 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Login credential; case-insensitive identifier.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onsolas"/>
                        </a:defRPr>
                      </a:pPr>
                      <a:r>
                        <a:t>password_hash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PBKDF2-SHA256 salted cryptographically secure hash.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onsolas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VARCHAR(20)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CHECK(role IN (...))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Role-based access token ('student', 'admin', 'hod').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Complaint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onsolas"/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PRIMARY KEY AUTOINCREMENT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 complaint ticket reference number.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Complaint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onsolas"/>
                        </a:defRPr>
                      </a:pPr>
                      <a:r>
                        <a:t>student_id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FOREIGN KEY -&gt; User(id)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Relational link to the filing student account.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Complaint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onsolas"/>
                        </a:defRPr>
                      </a:pPr>
                      <a:r>
                        <a:t>category / target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INDEXED COMPOSITE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Taxonomy fields used for automated problem clustering.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PRESENTATION LAYER | CORE APPLICATION SCREENS &amp;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User Interfaces (System Walkthrough)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280160"/>
            <a:ext cx="3429000" cy="5486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35024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1. Student Complaint Portal</a:t>
            </a:r>
          </a:p>
          <a:p>
            <a:pPr>
              <a:defRPr sz="900">
                <a:solidFill>
                  <a:srgbClr val="DAA520"/>
                </a:solidFill>
                <a:latin typeface="Consolas"/>
              </a:defRPr>
            </a:pPr>
            <a:r>
              <a:t>URL: /student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20240"/>
            <a:ext cx="3154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Intuitive submission portal with live monthly quota indicator (X/5 used), dropdown taxonomy selectors, and auto-hazard keyword scanning.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429000" cy="5486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335024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2. Student Complaint History</a:t>
            </a:r>
          </a:p>
          <a:p>
            <a:pPr>
              <a:defRPr sz="900">
                <a:solidFill>
                  <a:srgbClr val="DAA520"/>
                </a:solidFill>
                <a:latin typeface="Consolas"/>
              </a:defRPr>
            </a:pPr>
            <a:r>
              <a:t>URL: /student-complaints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920240"/>
            <a:ext cx="3154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Real-time grievance timeline with color-coded status badges (Pending, In-Progress, Resolved) and administrative investigative feedback.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80160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280160"/>
            <a:ext cx="3429000" cy="5486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335024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3. Admin Triage &amp; Batch Desk</a:t>
            </a:r>
          </a:p>
          <a:p>
            <a:pPr>
              <a:defRPr sz="900">
                <a:solidFill>
                  <a:srgbClr val="DAA520"/>
                </a:solidFill>
                <a:latin typeface="Consolas"/>
              </a:defRPr>
            </a:pPr>
            <a:r>
              <a:t>URL: /admin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920240"/>
            <a:ext cx="3154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Consolidated administrative queue grouping correlated complaints together with 1-Click Batch Resolution and mandatory remark modals.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49039"/>
            <a:ext cx="3429000" cy="5486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803903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4. HOD Executive Oversight</a:t>
            </a:r>
          </a:p>
          <a:p>
            <a:pPr>
              <a:defRPr sz="900">
                <a:solidFill>
                  <a:srgbClr val="DAA520"/>
                </a:solidFill>
                <a:latin typeface="Consolas"/>
              </a:defRPr>
            </a:pPr>
            <a:r>
              <a:t>URL: /hod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89119"/>
            <a:ext cx="3154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High-level department oversight console featuring exclusive Conflict-of-Interest isolation tab for complaints filed against Admin staff.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749039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749039"/>
            <a:ext cx="3429000" cy="5486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803903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5. In-Browser DB Inspector</a:t>
            </a:r>
          </a:p>
          <a:p>
            <a:pPr>
              <a:defRPr sz="900">
                <a:solidFill>
                  <a:srgbClr val="DAA520"/>
                </a:solidFill>
                <a:latin typeface="Consolas"/>
              </a:defRPr>
            </a:pPr>
            <a:r>
              <a:t>URL: /db-view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389119"/>
            <a:ext cx="3154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Live administrative database inspector displaying User accounts, active Complaints, cluster groups, and system logs without third-party tools.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749039"/>
            <a:ext cx="34290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749039"/>
            <a:ext cx="3429000" cy="5486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803903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6. Authentication &amp; Security</a:t>
            </a:r>
          </a:p>
          <a:p>
            <a:pPr>
              <a:defRPr sz="900">
                <a:solidFill>
                  <a:srgbClr val="DAA520"/>
                </a:solidFill>
                <a:latin typeface="Consolas"/>
              </a:defRPr>
            </a:pPr>
            <a:r>
              <a:t>URL: /login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4389119"/>
            <a:ext cx="315468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Clean, role-aware unified login gateway featuring session integrity, error flash messaging, and PBKDF2 password verification.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DEVELOPMENT ENVIRONMENT | LIBRARIES, FRAMEWORKS &amp; SECURITY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Tools &amp; Technologies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6156655"/>
              </a:tblGrid>
              <a:tr h="6057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Technology / Tool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Architectural Role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Technical Rationale &amp; Selection Justification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Python 3.9+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Core Programming Language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Provides modern backend language syntax, robust standard library, rapid prototyping capabilities, and cross-platform compatibility.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Flask 2.x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Web Application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Lightweight, WSGI-compliant Python microframework offering granular routing control, request handling, and secure session management.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SQLite 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Relational Database Engine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Embedded, zero-configuration, ACID-compliant database providing serverless reliability and fast parameterized query execution.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Werkzeug 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Cryptographic Hashing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Enterprise-grade PBKDF2-SHA256 password hashing with cryptographic salting to prevent rainbow table attacks.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Tailwind CSS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Frontend Styling Engine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Utility-first CSS framework delivering modern responsive layouts, clean card hierarchies, and distinct status badges.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Jinja2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Template Engine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High-performance Python templating engine enabling role-aware template inheritance and secure XSS escaping.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Pytest 8.x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Automated QA Test Suite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Modern test framework driving 9 automated integration test cases verifying 100% of functional requirements and edge cases.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DAA520"/>
                </a:solidFill>
                <a:latin typeface="Calibri"/>
              </a:defRPr>
            </a:pPr>
            <a:r>
              <a:t>QUALITY ASSURANCE | AUTOMATED PYTEST SUITE &amp; TEST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Testing Strategy &amp; Verification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465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Smart University Complaint System (SUCS)  |  Virtual University Final Project Presentation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26080"/>
                <a:gridCol w="5059375"/>
                <a:gridCol w="1645920"/>
              </a:tblGrid>
              <a:tr h="4846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ID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Test Scenario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Validation Scope &amp; Test Execution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Execution Outcome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Student Login &amp; Role Routing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Verify valid authentication redirects student to /student.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TC-02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Monthly Quota Limit (5 Max)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Verify 6th complaint in calendar month is blocked.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Emergency Keyword Escalation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Verify hazard words auto-escalate priority to High.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COI Firewall Admin Isolation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Verify Target='Administration' is excluded from Admin queue.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TC-05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COI Routing to HOD Desk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Verify Target='Administration' appears exclusively in HOD queue.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TC-06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Intelligent Auto-Grouping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Verify identical category &amp; target share common group_id.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TC-07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1-Click Batch Group Resolution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Verify batch resolve updates all tickets in cluster simultaneously.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TC-08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Mandatory In-Progress Remarks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Verify status change to In-Progress requires non-empty comment.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03366"/>
                          </a:solidFill>
                          <a:latin typeface="Calibri"/>
                        </a:defRPr>
                      </a:pPr>
                      <a:r>
                        <a:t>TC-09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In-Browser DB Inspector Audit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Verify /db-view loads records securely for authorized staff.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 &amp; Future Research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4572000" cy="4297680"/>
          </a:xfrm>
          <a:prstGeom prst="roundRect">
            <a:avLst/>
          </a:prstGeom>
          <a:solidFill>
            <a:srgbClr val="003366"/>
          </a:solidFill>
          <a:ln w="12700">
            <a:solidFill>
              <a:srgbClr val="16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0116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AA520"/>
                </a:solidFill>
                <a:latin typeface="Calibri"/>
              </a:defRPr>
            </a:pPr>
            <a:r>
              <a:t>PROJECT ACHIEVEMENTS</a:t>
            </a:r>
          </a:p>
          <a:p>
            <a:pPr>
              <a:spcAft>
                <a:spcPts val="600"/>
              </a:spcAft>
              <a:defRPr sz="1000">
                <a:solidFill>
                  <a:srgbClr val="DCEBFF"/>
                </a:solidFill>
                <a:latin typeface="Calibri"/>
              </a:defRPr>
            </a:pPr>
            <a:r>
              <a:t>✔ Delivered a complete, operational, zero-regression complaint management prototype for Virtual University.</a:t>
            </a:r>
          </a:p>
          <a:p>
            <a:pPr>
              <a:spcAft>
                <a:spcPts val="600"/>
              </a:spcAft>
              <a:defRPr sz="1000">
                <a:solidFill>
                  <a:srgbClr val="DCEBFF"/>
                </a:solidFill>
                <a:latin typeface="Calibri"/>
              </a:defRPr>
            </a:pPr>
            <a:r>
              <a:t>✔ Engineered strict Conflict-of-Interest isolation, guaranteeing fair grievance handling without staff bias.</a:t>
            </a:r>
          </a:p>
          <a:p>
            <a:pPr>
              <a:spcAft>
                <a:spcPts val="600"/>
              </a:spcAft>
              <a:defRPr sz="1000">
                <a:solidFill>
                  <a:srgbClr val="DCEBFF"/>
                </a:solidFill>
                <a:latin typeface="Calibri"/>
              </a:defRPr>
            </a:pPr>
            <a:r>
              <a:t>✔ Implemented intelligent problem clustering &amp; 1-Click batch resolution, reducing administrative triage time by ~80%.</a:t>
            </a:r>
          </a:p>
          <a:p>
            <a:pPr>
              <a:spcAft>
                <a:spcPts val="600"/>
              </a:spcAft>
              <a:defRPr sz="1000">
                <a:solidFill>
                  <a:srgbClr val="DCEBFF"/>
                </a:solidFill>
                <a:latin typeface="Calibri"/>
              </a:defRPr>
            </a:pPr>
            <a:r>
              <a:t>✔ Enforced 5-complaint monthly quotas to eliminate queue spamming.</a:t>
            </a:r>
          </a:p>
          <a:p>
            <a:pPr>
              <a:spcAft>
                <a:spcPts val="600"/>
              </a:spcAft>
              <a:defRPr sz="1000">
                <a:solidFill>
                  <a:srgbClr val="DCEBFF"/>
                </a:solidFill>
                <a:latin typeface="Calibri"/>
              </a:defRPr>
            </a:pPr>
            <a:r>
              <a:t>✔ Achieved 100% automated test pass rate across 9 Pytest scenarios.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4572000" cy="4297680"/>
          </a:xfrm>
          <a:prstGeom prst="roundRect">
            <a:avLst/>
          </a:prstGeom>
          <a:solidFill>
            <a:srgbClr val="003366"/>
          </a:solidFill>
          <a:ln w="12700">
            <a:solidFill>
              <a:srgbClr val="16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AA520"/>
                </a:solidFill>
                <a:latin typeface="Calibri"/>
              </a:defRPr>
            </a:pPr>
            <a:r>
              <a:t>FUTURE RESEARCH ROADMAP</a:t>
            </a:r>
          </a:p>
          <a:p>
            <a:pPr>
              <a:spcAft>
                <a:spcPts val="600"/>
              </a:spcAft>
              <a:defRPr sz="1000">
                <a:solidFill>
                  <a:srgbClr val="DCEBFF"/>
                </a:solidFill>
                <a:latin typeface="Calibri"/>
              </a:defRPr>
            </a:pPr>
            <a:r>
              <a:t>▶ AI Semantic Similarity Clustering using NLP Embeddings (sentence transformers) for fuzzy problem matching.</a:t>
            </a:r>
          </a:p>
          <a:p>
            <a:pPr>
              <a:spcAft>
                <a:spcPts val="600"/>
              </a:spcAft>
              <a:defRPr sz="1000">
                <a:solidFill>
                  <a:srgbClr val="DCEBFF"/>
                </a:solidFill>
                <a:latin typeface="Calibri"/>
              </a:defRPr>
            </a:pPr>
            <a:r>
              <a:t>▶ SMS &amp; Email Gateway Integration (Twilio / SendGrid) for automated status notifications.</a:t>
            </a:r>
          </a:p>
          <a:p>
            <a:pPr>
              <a:spcAft>
                <a:spcPts val="600"/>
              </a:spcAft>
              <a:defRPr sz="1000">
                <a:solidFill>
                  <a:srgbClr val="DCEBFF"/>
                </a:solidFill>
                <a:latin typeface="Calibri"/>
              </a:defRPr>
            </a:pPr>
            <a:r>
              <a:t>▶ Cross-Platform Mobile Application (Flutter/React Native) for instant grievance lodging.</a:t>
            </a:r>
          </a:p>
          <a:p>
            <a:pPr>
              <a:spcAft>
                <a:spcPts val="600"/>
              </a:spcAft>
              <a:defRPr sz="1000">
                <a:solidFill>
                  <a:srgbClr val="DCEBFF"/>
                </a:solidFill>
                <a:latin typeface="Calibri"/>
              </a:defRPr>
            </a:pPr>
            <a:r>
              <a:t>▶ Real-Time Analytics Dashboard with SLA breach prediction and heatmaps.</a:t>
            </a:r>
          </a:p>
          <a:p>
            <a:pPr algn="ctr">
              <a:spcBef>
                <a:spcPts val="1400"/>
              </a:spcBef>
              <a:defRPr sz="1300" b="1">
                <a:solidFill>
                  <a:srgbClr val="DAA520"/>
                </a:solidFill>
                <a:latin typeface="Arial"/>
              </a:defRPr>
            </a:pPr>
            <a:r>
              <a:t>Thank You! Ready for Viva Questions &amp;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